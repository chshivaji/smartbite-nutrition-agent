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17"/>
  </p:notesMasterIdLst>
  <p:sldIdLst>
    <p:sldId id="256" r:id="rId2"/>
    <p:sldId id="257" r:id="rId3"/>
    <p:sldId id="258" r:id="rId4"/>
    <p:sldId id="259" r:id="rId5"/>
    <p:sldId id="260" r:id="rId6"/>
    <p:sldId id="261" r:id="rId7"/>
    <p:sldId id="262" r:id="rId8"/>
    <p:sldId id="263" r:id="rId9"/>
    <p:sldId id="264" r:id="rId10"/>
    <p:sldId id="266" r:id="rId11"/>
    <p:sldId id="268" r:id="rId12"/>
    <p:sldId id="269" r:id="rId13"/>
    <p:sldId id="270" r:id="rId14"/>
    <p:sldId id="272" r:id="rId15"/>
    <p:sldId id="271" r:id="rId16"/>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22" roundtripDataSignature="AMtx7mgb3W1nguJpyLvdkVeio7GQyZY/LA=="/>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F063BE5B-8E01-4B91-9C5C-8479B17E1E5F}">
  <a:tblStyle styleId="{F063BE5B-8E01-4B91-9C5C-8479B17E1E5F}" styleName="Table_0">
    <a:wholeTbl>
      <a:tcTxStyle b="off" i="off">
        <a:font>
          <a:latin typeface="Arial"/>
          <a:ea typeface="Arial"/>
          <a:cs typeface="Arial"/>
        </a:font>
        <a:srgbClr val="000000"/>
      </a:tcTxStyle>
      <a:tcStyle>
        <a:tcBdr/>
      </a:tcStyle>
    </a:wholeTbl>
    <a:band1H>
      <a:tcTxStyle b="off" i="off"/>
      <a:tcStyle>
        <a:tcBdr/>
      </a:tcStyle>
    </a:band1H>
    <a:band2H>
      <a:tcTxStyle b="off" i="off"/>
      <a:tcStyle>
        <a:tcBdr/>
      </a:tcStyle>
    </a:band2H>
    <a:band1V>
      <a:tcTxStyle b="off" i="off"/>
      <a:tcStyle>
        <a:tcBdr/>
      </a:tcStyle>
    </a:band1V>
    <a:band2V>
      <a:tcTxStyle b="off" i="off"/>
      <a:tcStyle>
        <a:tcBdr/>
      </a:tcStyle>
    </a:band2V>
    <a:lastCol>
      <a:tcTxStyle b="off" i="off"/>
      <a:tcStyle>
        <a:tcBdr/>
      </a:tcStyle>
    </a:lastCol>
    <a:firstCol>
      <a:tcTxStyle b="off" i="off"/>
      <a:tcStyle>
        <a:tcBdr/>
      </a:tcStyle>
    </a:firstCol>
    <a:lastRow>
      <a:tcTxStyle b="off" i="off"/>
      <a:tcStyle>
        <a:tcBdr/>
      </a:tcStyle>
    </a:lastRow>
    <a:seCell>
      <a:tcTxStyle b="off" i="off"/>
      <a:tcStyle>
        <a:tcBdr/>
      </a:tcStyle>
    </a:seCell>
    <a:swCell>
      <a:tcTxStyle b="off" i="off"/>
      <a:tcStyle>
        <a:tcBdr/>
      </a:tcStyle>
    </a:swCell>
    <a:firstRow>
      <a:tcTxStyle b="off" i="off"/>
      <a:tcStyle>
        <a:tcBdr/>
      </a:tcStyle>
    </a:firstRow>
    <a:neCell>
      <a:tcTxStyle b="off" i="off"/>
      <a:tcStyle>
        <a:tcBdr/>
      </a:tcStyle>
    </a:neCell>
    <a:nwCell>
      <a:tcTxStyle b="off" i="off"/>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78" d="100"/>
          <a:sy n="78" d="100"/>
        </p:scale>
        <p:origin x="850" y="6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22" Type="http://customschemas.google.com/relationships/presentationmetadata" Target="metadata"/><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
        <p:cNvGrpSpPr/>
        <p:nvPr/>
      </p:nvGrpSpPr>
      <p:grpSpPr>
        <a:xfrm>
          <a:off x="0" y="0"/>
          <a:ext cx="0" cy="0"/>
          <a:chOff x="0" y="0"/>
          <a:chExt cx="0" cy="0"/>
        </a:xfrm>
      </p:grpSpPr>
      <p:sp>
        <p:nvSpPr>
          <p:cNvPr id="75" name="Google Shape;75;p3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76" name="Google Shape;76;p33: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p:cNvGrpSpPr/>
        <p:nvPr/>
      </p:nvGrpSpPr>
      <p:grpSpPr>
        <a:xfrm>
          <a:off x="0" y="0"/>
          <a:ext cx="0" cy="0"/>
          <a:chOff x="0" y="0"/>
          <a:chExt cx="0" cy="0"/>
        </a:xfrm>
      </p:grpSpPr>
      <p:sp>
        <p:nvSpPr>
          <p:cNvPr id="81" name="Google Shape;81;p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82" name="Google Shape;82;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1"/>
        <p:cNvGrpSpPr/>
        <p:nvPr/>
      </p:nvGrpSpPr>
      <p:grpSpPr>
        <a:xfrm>
          <a:off x="0" y="0"/>
          <a:ext cx="0" cy="0"/>
          <a:chOff x="0" y="0"/>
          <a:chExt cx="0" cy="0"/>
        </a:xfrm>
      </p:grpSpPr>
      <p:sp>
        <p:nvSpPr>
          <p:cNvPr id="92" name="Google Shape;92;p3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93" name="Google Shape;93;p3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
        <p:cNvGrpSpPr/>
        <p:nvPr/>
      </p:nvGrpSpPr>
      <p:grpSpPr>
        <a:xfrm>
          <a:off x="0" y="0"/>
          <a:ext cx="0" cy="0"/>
          <a:chOff x="0" y="0"/>
          <a:chExt cx="0" cy="0"/>
        </a:xfrm>
      </p:grpSpPr>
      <p:sp>
        <p:nvSpPr>
          <p:cNvPr id="98" name="Google Shape;98;p3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99" name="Google Shape;99;p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p:cNvGrpSpPr/>
        <p:nvPr/>
      </p:nvGrpSpPr>
      <p:grpSpPr>
        <a:xfrm>
          <a:off x="0" y="0"/>
          <a:ext cx="0" cy="0"/>
          <a:chOff x="0" y="0"/>
          <a:chExt cx="0" cy="0"/>
        </a:xfrm>
      </p:grpSpPr>
      <p:sp>
        <p:nvSpPr>
          <p:cNvPr id="104" name="Google Shape;104;p3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05" name="Google Shape;105;p3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9"/>
        <p:cNvGrpSpPr/>
        <p:nvPr/>
      </p:nvGrpSpPr>
      <p:grpSpPr>
        <a:xfrm>
          <a:off x="0" y="0"/>
          <a:ext cx="0" cy="0"/>
          <a:chOff x="0" y="0"/>
          <a:chExt cx="0" cy="0"/>
        </a:xfrm>
      </p:grpSpPr>
      <p:sp>
        <p:nvSpPr>
          <p:cNvPr id="110" name="Google Shape;110;p3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11" name="Google Shape;111;p3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1"/>
        <p:cNvGrpSpPr/>
        <p:nvPr/>
      </p:nvGrpSpPr>
      <p:grpSpPr>
        <a:xfrm>
          <a:off x="0" y="0"/>
          <a:ext cx="0" cy="0"/>
          <a:chOff x="0" y="0"/>
          <a:chExt cx="0" cy="0"/>
        </a:xfrm>
      </p:grpSpPr>
      <p:sp>
        <p:nvSpPr>
          <p:cNvPr id="122" name="Google Shape;122;p3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23" name="Google Shape;123;p3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7"/>
        <p:cNvGrpSpPr/>
        <p:nvPr/>
      </p:nvGrpSpPr>
      <p:grpSpPr>
        <a:xfrm>
          <a:off x="0" y="0"/>
          <a:ext cx="0" cy="0"/>
          <a:chOff x="0" y="0"/>
          <a:chExt cx="0" cy="0"/>
        </a:xfrm>
      </p:grpSpPr>
      <p:sp>
        <p:nvSpPr>
          <p:cNvPr id="128" name="Google Shape;128;p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29" name="Google Shape;129;p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3"/>
        <p:cNvGrpSpPr/>
        <p:nvPr/>
      </p:nvGrpSpPr>
      <p:grpSpPr>
        <a:xfrm>
          <a:off x="0" y="0"/>
          <a:ext cx="0" cy="0"/>
          <a:chOff x="0" y="0"/>
          <a:chExt cx="0" cy="0"/>
        </a:xfrm>
      </p:grpSpPr>
      <p:sp>
        <p:nvSpPr>
          <p:cNvPr id="134" name="Google Shape;134;p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35" name="Google Shape;135;p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3"/>
        <p:cNvGrpSpPr/>
        <p:nvPr/>
      </p:nvGrpSpPr>
      <p:grpSpPr>
        <a:xfrm>
          <a:off x="0" y="0"/>
          <a:ext cx="0" cy="0"/>
          <a:chOff x="0" y="0"/>
          <a:chExt cx="0" cy="0"/>
        </a:xfrm>
      </p:grpSpPr>
      <p:sp>
        <p:nvSpPr>
          <p:cNvPr id="154" name="Google Shape;154;p4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55" name="Google Shape;155;p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
        <p:cNvGrpSpPr/>
        <p:nvPr/>
      </p:nvGrpSpPr>
      <p:grpSpPr>
        <a:xfrm>
          <a:off x="0" y="0"/>
          <a:ext cx="0" cy="0"/>
          <a:chOff x="0" y="0"/>
          <a:chExt cx="0" cy="0"/>
        </a:xfrm>
      </p:grpSpPr>
      <p:sp>
        <p:nvSpPr>
          <p:cNvPr id="169" name="Google Shape;169;p4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70" name="Google Shape;170;p4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7"/>
        <p:cNvGrpSpPr/>
        <p:nvPr/>
      </p:nvGrpSpPr>
      <p:grpSpPr>
        <a:xfrm>
          <a:off x="0" y="0"/>
          <a:ext cx="0" cy="0"/>
          <a:chOff x="0" y="0"/>
          <a:chExt cx="0" cy="0"/>
        </a:xfrm>
      </p:grpSpPr>
      <p:sp>
        <p:nvSpPr>
          <p:cNvPr id="178" name="Google Shape;178;p4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9" name="Google Shape;179;p4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p:cNvGrpSpPr/>
        <p:nvPr/>
      </p:nvGrpSpPr>
      <p:grpSpPr>
        <a:xfrm>
          <a:off x="0" y="0"/>
          <a:ext cx="0" cy="0"/>
          <a:chOff x="0" y="0"/>
          <a:chExt cx="0" cy="0"/>
        </a:xfrm>
      </p:grpSpPr>
      <p:sp>
        <p:nvSpPr>
          <p:cNvPr id="185" name="Google Shape;185;p4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86" name="Google Shape;186;p4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1"/>
        <p:cNvGrpSpPr/>
        <p:nvPr/>
      </p:nvGrpSpPr>
      <p:grpSpPr>
        <a:xfrm>
          <a:off x="0" y="0"/>
          <a:ext cx="0" cy="0"/>
          <a:chOff x="0" y="0"/>
          <a:chExt cx="0" cy="0"/>
        </a:xfrm>
      </p:grpSpPr>
      <p:sp>
        <p:nvSpPr>
          <p:cNvPr id="192" name="Google Shape;192;p2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93" name="Google Shape;193;p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1"/>
        <p:cNvGrpSpPr/>
        <p:nvPr/>
      </p:nvGrpSpPr>
      <p:grpSpPr>
        <a:xfrm>
          <a:off x="0" y="0"/>
          <a:ext cx="0" cy="0"/>
          <a:chOff x="0" y="0"/>
          <a:chExt cx="0" cy="0"/>
        </a:xfrm>
      </p:grpSpPr>
      <p:sp>
        <p:nvSpPr>
          <p:cNvPr id="12" name="Google Shape;12;p24"/>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3" name="Google Shape;13;p24"/>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14" name="Google Shape;14;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5" name="Google Shape;15;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6" name="Google Shape;16;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7"/>
        <p:cNvGrpSpPr/>
        <p:nvPr/>
      </p:nvGrpSpPr>
      <p:grpSpPr>
        <a:xfrm>
          <a:off x="0" y="0"/>
          <a:ext cx="0" cy="0"/>
          <a:chOff x="0" y="0"/>
          <a:chExt cx="0" cy="0"/>
        </a:xfrm>
      </p:grpSpPr>
      <p:sp>
        <p:nvSpPr>
          <p:cNvPr id="18" name="Google Shape;18;p23"/>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9" name="Google Shape;19;p23"/>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0" name="Google Shape;20;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2" name="Google Shape;22;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23"/>
        <p:cNvGrpSpPr/>
        <p:nvPr/>
      </p:nvGrpSpPr>
      <p:grpSpPr>
        <a:xfrm>
          <a:off x="0" y="0"/>
          <a:ext cx="0" cy="0"/>
          <a:chOff x="0" y="0"/>
          <a:chExt cx="0" cy="0"/>
        </a:xfrm>
      </p:grpSpPr>
      <p:sp>
        <p:nvSpPr>
          <p:cNvPr id="24" name="Google Shape;24;p25"/>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5" name="Google Shape;25;p25"/>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6" name="Google Shape;26;p25"/>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7" name="Google Shape;27;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8" name="Google Shape;28;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0"/>
        <p:cNvGrpSpPr/>
        <p:nvPr/>
      </p:nvGrpSpPr>
      <p:grpSpPr>
        <a:xfrm>
          <a:off x="0" y="0"/>
          <a:ext cx="0" cy="0"/>
          <a:chOff x="0" y="0"/>
          <a:chExt cx="0" cy="0"/>
        </a:xfrm>
      </p:grpSpPr>
      <p:sp>
        <p:nvSpPr>
          <p:cNvPr id="31" name="Google Shape;31;p26"/>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2" name="Google Shape;32;p26"/>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33" name="Google Shape;33;p26"/>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26"/>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35" name="Google Shape;35;p26"/>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6" name="Google Shape;36;p2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2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8" name="Google Shape;38;p2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9"/>
        <p:cNvGrpSpPr/>
        <p:nvPr/>
      </p:nvGrpSpPr>
      <p:grpSpPr>
        <a:xfrm>
          <a:off x="0" y="0"/>
          <a:ext cx="0" cy="0"/>
          <a:chOff x="0" y="0"/>
          <a:chExt cx="0" cy="0"/>
        </a:xfrm>
      </p:grpSpPr>
      <p:sp>
        <p:nvSpPr>
          <p:cNvPr id="40" name="Google Shape;40;p27"/>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1" name="Google Shape;41;p2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2" name="Google Shape;42;p2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3" name="Google Shape;43;p2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4"/>
        <p:cNvGrpSpPr/>
        <p:nvPr/>
      </p:nvGrpSpPr>
      <p:grpSpPr>
        <a:xfrm>
          <a:off x="0" y="0"/>
          <a:ext cx="0" cy="0"/>
          <a:chOff x="0" y="0"/>
          <a:chExt cx="0" cy="0"/>
        </a:xfrm>
      </p:grpSpPr>
      <p:sp>
        <p:nvSpPr>
          <p:cNvPr id="45" name="Google Shape;45;p2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2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7" name="Google Shape;47;p2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48"/>
        <p:cNvGrpSpPr/>
        <p:nvPr/>
      </p:nvGrpSpPr>
      <p:grpSpPr>
        <a:xfrm>
          <a:off x="0" y="0"/>
          <a:ext cx="0" cy="0"/>
          <a:chOff x="0" y="0"/>
          <a:chExt cx="0" cy="0"/>
        </a:xfrm>
      </p:grpSpPr>
      <p:sp>
        <p:nvSpPr>
          <p:cNvPr id="49" name="Google Shape;49;p29"/>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9"/>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1" name="Google Shape;51;p29"/>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2" name="Google Shape;52;p2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3" name="Google Shape;53;p2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5"/>
        <p:cNvGrpSpPr/>
        <p:nvPr/>
      </p:nvGrpSpPr>
      <p:grpSpPr>
        <a:xfrm>
          <a:off x="0" y="0"/>
          <a:ext cx="0" cy="0"/>
          <a:chOff x="0" y="0"/>
          <a:chExt cx="0" cy="0"/>
        </a:xfrm>
      </p:grpSpPr>
      <p:sp>
        <p:nvSpPr>
          <p:cNvPr id="56" name="Google Shape;56;p30"/>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30"/>
          <p:cNvSpPr>
            <a:spLocks noGrp="1"/>
          </p:cNvSpPr>
          <p:nvPr>
            <p:ph type="pic" idx="2"/>
          </p:nvPr>
        </p:nvSpPr>
        <p:spPr>
          <a:xfrm>
            <a:off x="5183188" y="987425"/>
            <a:ext cx="6172200" cy="4873625"/>
          </a:xfrm>
          <a:prstGeom prst="rect">
            <a:avLst/>
          </a:prstGeom>
          <a:noFill/>
          <a:ln>
            <a:noFill/>
          </a:ln>
        </p:spPr>
      </p:sp>
      <p:sp>
        <p:nvSpPr>
          <p:cNvPr id="58" name="Google Shape;58;p30"/>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9" name="Google Shape;59;p3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0" name="Google Shape;60;p3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3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2"/>
        <p:cNvGrpSpPr/>
        <p:nvPr/>
      </p:nvGrpSpPr>
      <p:grpSpPr>
        <a:xfrm>
          <a:off x="0" y="0"/>
          <a:ext cx="0" cy="0"/>
          <a:chOff x="0" y="0"/>
          <a:chExt cx="0" cy="0"/>
        </a:xfrm>
      </p:grpSpPr>
      <p:sp>
        <p:nvSpPr>
          <p:cNvPr id="63" name="Google Shape;63;p3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31"/>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5" name="Google Shape;65;p3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6" name="Google Shape;66;p3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7" name="Google Shape;67;p3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68"/>
        <p:cNvGrpSpPr/>
        <p:nvPr/>
      </p:nvGrpSpPr>
      <p:grpSpPr>
        <a:xfrm>
          <a:off x="0" y="0"/>
          <a:ext cx="0" cy="0"/>
          <a:chOff x="0" y="0"/>
          <a:chExt cx="0" cy="0"/>
        </a:xfrm>
      </p:grpSpPr>
      <p:sp>
        <p:nvSpPr>
          <p:cNvPr id="69" name="Google Shape;69;p32"/>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32"/>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1" name="Google Shape;71;p3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2" name="Google Shape;72;p3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3" name="Google Shape;73;p3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2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7" name="Google Shape;7;p21"/>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 name="Google Shape;8;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9" name="Google Shape;9;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0" name="Google Shape;10;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1.jpe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8.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77"/>
        <p:cNvGrpSpPr/>
        <p:nvPr/>
      </p:nvGrpSpPr>
      <p:grpSpPr>
        <a:xfrm>
          <a:off x="0" y="0"/>
          <a:ext cx="0" cy="0"/>
          <a:chOff x="0" y="0"/>
          <a:chExt cx="0" cy="0"/>
        </a:xfrm>
      </p:grpSpPr>
      <p:sp>
        <p:nvSpPr>
          <p:cNvPr id="78" name="Google Shape;78;p33"/>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p>
            <a:pPr marL="0" lvl="0" indent="0" algn="ctr" rtl="0">
              <a:lnSpc>
                <a:spcPct val="90000"/>
              </a:lnSpc>
              <a:spcBef>
                <a:spcPts val="0"/>
              </a:spcBef>
              <a:spcAft>
                <a:spcPts val="0"/>
              </a:spcAft>
              <a:buSzPts val="6000"/>
              <a:buNone/>
            </a:pPr>
            <a:r>
              <a:rPr lang="en-US" sz="6600" b="1" dirty="0"/>
              <a:t>IBM University Engagement Project Submission</a:t>
            </a:r>
            <a:br>
              <a:rPr lang="en-US" b="1" dirty="0"/>
            </a:br>
            <a:endParaRPr dirty="0"/>
          </a:p>
        </p:txBody>
      </p:sp>
      <p:sp>
        <p:nvSpPr>
          <p:cNvPr id="79" name="Google Shape;79;p33"/>
          <p:cNvSpPr txBox="1">
            <a:spLocks noGrp="1"/>
          </p:cNvSpPr>
          <p:nvPr>
            <p:ph type="body" idx="1"/>
          </p:nvPr>
        </p:nvSpPr>
        <p:spPr>
          <a:xfrm>
            <a:off x="1014730" y="3903663"/>
            <a:ext cx="10515600" cy="1500187"/>
          </a:xfrm>
          <a:prstGeom prst="rect">
            <a:avLst/>
          </a:prstGeom>
          <a:noFill/>
          <a:ln>
            <a:noFill/>
          </a:ln>
        </p:spPr>
        <p:txBody>
          <a:bodyPr spcFirstLastPara="1" wrap="square" lIns="91425" tIns="45700" rIns="91425" bIns="45700" anchor="t" anchorCtr="0">
            <a:normAutofit/>
          </a:bodyPr>
          <a:lstStyle/>
          <a:p>
            <a:pPr marL="457200" lvl="0" indent="-228600" algn="ctr" rtl="0">
              <a:lnSpc>
                <a:spcPct val="90000"/>
              </a:lnSpc>
              <a:spcBef>
                <a:spcPts val="1000"/>
              </a:spcBef>
              <a:spcAft>
                <a:spcPts val="0"/>
              </a:spcAft>
              <a:buSzPts val="2400"/>
              <a:buNone/>
            </a:pPr>
            <a:r>
              <a:rPr lang="en-US" b="1" i="1" dirty="0"/>
              <a:t>“Exploring the Power of Agentic AI with IBM Granite and </a:t>
            </a:r>
            <a:r>
              <a:rPr lang="en-US" b="1" i="1" dirty="0" err="1"/>
              <a:t>LangFlow</a:t>
            </a:r>
            <a:r>
              <a:rPr lang="en-US" b="1" i="1" dirty="0"/>
              <a:t>”</a:t>
            </a:r>
            <a:endParaRPr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83"/>
        <p:cNvGrpSpPr/>
        <p:nvPr/>
      </p:nvGrpSpPr>
      <p:grpSpPr>
        <a:xfrm>
          <a:off x="0" y="0"/>
          <a:ext cx="0" cy="0"/>
          <a:chOff x="0" y="0"/>
          <a:chExt cx="0" cy="0"/>
        </a:xfrm>
      </p:grpSpPr>
      <p:sp>
        <p:nvSpPr>
          <p:cNvPr id="84" name="Google Shape;84;p2"/>
          <p:cNvSpPr/>
          <p:nvPr/>
        </p:nvSpPr>
        <p:spPr>
          <a:xfrm>
            <a:off x="690624" y="4425370"/>
            <a:ext cx="10795794" cy="199230"/>
          </a:xfrm>
          <a:prstGeom prst="rect">
            <a:avLst/>
          </a:prstGeom>
          <a:noFill/>
          <a:ln>
            <a:noFill/>
          </a:ln>
        </p:spPr>
        <p:txBody>
          <a:bodyPr spcFirstLastPara="1" wrap="square" lIns="0" tIns="0" rIns="0" bIns="0" anchor="t" anchorCtr="0">
            <a:noAutofit/>
          </a:bodyPr>
          <a:lstStyle/>
          <a:p>
            <a:pPr marL="0" marR="0" lvl="0" indent="0" algn="l" rtl="0">
              <a:lnSpc>
                <a:spcPct val="160000"/>
              </a:lnSpc>
              <a:spcBef>
                <a:spcPts val="0"/>
              </a:spcBef>
              <a:spcAft>
                <a:spcPts val="0"/>
              </a:spcAft>
              <a:buClr>
                <a:schemeClr val="dk1"/>
              </a:buClr>
              <a:buSzPts val="1500"/>
              <a:buFont typeface="Calibri"/>
              <a:buNone/>
            </a:pPr>
            <a:endParaRPr sz="1500" b="0" i="0" u="none" strike="noStrike" cap="none">
              <a:solidFill>
                <a:schemeClr val="dk1"/>
              </a:solidFill>
              <a:latin typeface="Times New Roman"/>
              <a:ea typeface="Times New Roman"/>
              <a:cs typeface="Times New Roman"/>
              <a:sym typeface="Times New Roman"/>
            </a:endParaRPr>
          </a:p>
        </p:txBody>
      </p:sp>
      <p:sp>
        <p:nvSpPr>
          <p:cNvPr id="85" name="Google Shape;85;p2"/>
          <p:cNvSpPr txBox="1"/>
          <p:nvPr/>
        </p:nvSpPr>
        <p:spPr>
          <a:xfrm>
            <a:off x="1102321" y="1174639"/>
            <a:ext cx="7426406" cy="451519"/>
          </a:xfrm>
          <a:prstGeom prst="rect">
            <a:avLst/>
          </a:prstGeom>
          <a:noFill/>
          <a:ln>
            <a:noFill/>
          </a:ln>
        </p:spPr>
        <p:txBody>
          <a:bodyPr spcFirstLastPara="1" wrap="square" lIns="91425" tIns="45700" rIns="91425" bIns="45700" anchor="ctr" anchorCtr="0">
            <a:noAutofit/>
          </a:bodyPr>
          <a:lstStyle/>
          <a:p>
            <a:pPr marL="0" marR="0" lvl="0" indent="0" algn="ctr" rtl="0">
              <a:lnSpc>
                <a:spcPct val="90000"/>
              </a:lnSpc>
              <a:spcBef>
                <a:spcPts val="0"/>
              </a:spcBef>
              <a:spcAft>
                <a:spcPts val="0"/>
              </a:spcAft>
              <a:buClr>
                <a:srgbClr val="002060"/>
              </a:buClr>
              <a:buSzPts val="3200"/>
              <a:buFont typeface="Times New Roman"/>
              <a:buNone/>
            </a:pPr>
            <a:endParaRPr sz="3200" b="1" i="0" u="none" strike="noStrike" cap="none">
              <a:solidFill>
                <a:srgbClr val="002060"/>
              </a:solidFill>
              <a:latin typeface="Times New Roman"/>
              <a:ea typeface="Times New Roman"/>
              <a:cs typeface="Times New Roman"/>
              <a:sym typeface="Times New Roman"/>
            </a:endParaRPr>
          </a:p>
        </p:txBody>
      </p:sp>
      <p:graphicFrame>
        <p:nvGraphicFramePr>
          <p:cNvPr id="86" name="Google Shape;86;p2"/>
          <p:cNvGraphicFramePr/>
          <p:nvPr>
            <p:extLst>
              <p:ext uri="{D42A27DB-BD31-4B8C-83A1-F6EECF244321}">
                <p14:modId xmlns:p14="http://schemas.microsoft.com/office/powerpoint/2010/main" val="4048159780"/>
              </p:ext>
            </p:extLst>
          </p:nvPr>
        </p:nvGraphicFramePr>
        <p:xfrm>
          <a:off x="1299257" y="2600315"/>
          <a:ext cx="9395000" cy="2167125"/>
        </p:xfrm>
        <a:graphic>
          <a:graphicData uri="http://schemas.openxmlformats.org/drawingml/2006/table">
            <a:tbl>
              <a:tblPr>
                <a:noFill/>
                <a:tableStyleId>{F063BE5B-8E01-4B91-9C5C-8479B17E1E5F}</a:tableStyleId>
              </a:tblPr>
              <a:tblGrid>
                <a:gridCol w="2064875">
                  <a:extLst>
                    <a:ext uri="{9D8B030D-6E8A-4147-A177-3AD203B41FA5}">
                      <a16:colId xmlns:a16="http://schemas.microsoft.com/office/drawing/2014/main" val="20000"/>
                    </a:ext>
                  </a:extLst>
                </a:gridCol>
                <a:gridCol w="2443375">
                  <a:extLst>
                    <a:ext uri="{9D8B030D-6E8A-4147-A177-3AD203B41FA5}">
                      <a16:colId xmlns:a16="http://schemas.microsoft.com/office/drawing/2014/main" val="20001"/>
                    </a:ext>
                  </a:extLst>
                </a:gridCol>
                <a:gridCol w="2443375">
                  <a:extLst>
                    <a:ext uri="{9D8B030D-6E8A-4147-A177-3AD203B41FA5}">
                      <a16:colId xmlns:a16="http://schemas.microsoft.com/office/drawing/2014/main" val="20002"/>
                    </a:ext>
                  </a:extLst>
                </a:gridCol>
                <a:gridCol w="2443375">
                  <a:extLst>
                    <a:ext uri="{9D8B030D-6E8A-4147-A177-3AD203B41FA5}">
                      <a16:colId xmlns:a16="http://schemas.microsoft.com/office/drawing/2014/main" val="20003"/>
                    </a:ext>
                  </a:extLst>
                </a:gridCol>
              </a:tblGrid>
              <a:tr h="973225">
                <a:tc>
                  <a:txBody>
                    <a:bodyPr/>
                    <a:lstStyle/>
                    <a:p>
                      <a:pPr marL="0" marR="0" lvl="0" indent="0" algn="ctr" rtl="0">
                        <a:lnSpc>
                          <a:spcPct val="100000"/>
                        </a:lnSpc>
                        <a:spcBef>
                          <a:spcPts val="0"/>
                        </a:spcBef>
                        <a:spcAft>
                          <a:spcPts val="0"/>
                        </a:spcAft>
                        <a:buClr>
                          <a:srgbClr val="000000"/>
                        </a:buClr>
                        <a:buSzPts val="1800"/>
                        <a:buFont typeface="Arial"/>
                        <a:buNone/>
                      </a:pPr>
                      <a:r>
                        <a:rPr lang="en-US" sz="1800" u="none" strike="noStrike" cap="none"/>
                        <a:t>Student Name</a:t>
                      </a:r>
                      <a:endParaRPr sz="1800" u="none" strike="noStrike" cap="none"/>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rgbClr val="000000"/>
                        </a:buClr>
                        <a:buSzPts val="1800"/>
                        <a:buFont typeface="Arial"/>
                        <a:buNone/>
                      </a:pPr>
                      <a:r>
                        <a:rPr lang="en-US" sz="1800" u="none" strike="noStrike" cap="none"/>
                        <a:t>Recent Passport Photo</a:t>
                      </a:r>
                      <a:endParaRPr sz="1800" u="none" strike="noStrike" cap="none"/>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000000"/>
                          </a:solidFill>
                          <a:latin typeface="Arial"/>
                          <a:ea typeface="Arial"/>
                          <a:cs typeface="Arial"/>
                          <a:sym typeface="Arial"/>
                        </a:rPr>
                        <a:t>Email ID </a:t>
                      </a:r>
                      <a:endParaRPr sz="1800" b="0" i="0" u="none" strike="noStrike" cap="none">
                        <a:solidFill>
                          <a:srgbClr val="000000"/>
                        </a:solidFill>
                        <a:latin typeface="Arial"/>
                        <a:ea typeface="Arial"/>
                        <a:cs typeface="Arial"/>
                        <a:sym typeface="Aria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chemeClr val="lt1"/>
                        </a:buClr>
                        <a:buSzPts val="1800"/>
                        <a:buFont typeface="Calibri"/>
                        <a:buNone/>
                      </a:pPr>
                      <a:r>
                        <a:rPr lang="en-US" sz="1800" b="0" i="0" u="none" strike="noStrike" cap="none">
                          <a:solidFill>
                            <a:srgbClr val="000000"/>
                          </a:solidFill>
                          <a:latin typeface="Arial"/>
                          <a:ea typeface="Arial"/>
                          <a:cs typeface="Arial"/>
                          <a:sym typeface="Arial"/>
                        </a:rPr>
                        <a:t>Mobile number</a:t>
                      </a:r>
                      <a:endParaRPr sz="1800" b="0" i="0" u="none" strike="noStrike" cap="none">
                        <a:solidFill>
                          <a:srgbClr val="000000"/>
                        </a:solidFill>
                        <a:latin typeface="Arial"/>
                        <a:ea typeface="Arial"/>
                        <a:cs typeface="Arial"/>
                        <a:sym typeface="Arial"/>
                      </a:endParaRPr>
                    </a:p>
                    <a:p>
                      <a:pPr marL="0" marR="0" lvl="0" indent="0" algn="ctr" rtl="0">
                        <a:lnSpc>
                          <a:spcPct val="100000"/>
                        </a:lnSpc>
                        <a:spcBef>
                          <a:spcPts val="0"/>
                        </a:spcBef>
                        <a:spcAft>
                          <a:spcPts val="0"/>
                        </a:spcAft>
                        <a:buClr>
                          <a:schemeClr val="lt1"/>
                        </a:buClr>
                        <a:buSzPts val="1800"/>
                        <a:buFont typeface="Calibri"/>
                        <a:buNone/>
                      </a:pPr>
                      <a:r>
                        <a:rPr lang="en-US" sz="1800" b="0" i="0" u="none" strike="noStrike" cap="none">
                          <a:solidFill>
                            <a:srgbClr val="000000"/>
                          </a:solidFill>
                          <a:latin typeface="Arial"/>
                          <a:ea typeface="Arial"/>
                          <a:cs typeface="Arial"/>
                          <a:sym typeface="Arial"/>
                        </a:rPr>
                        <a:t>[WhatsApp] </a:t>
                      </a:r>
                      <a:endParaRPr sz="1800" b="0" i="0" u="none" strike="noStrike" cap="none">
                        <a:solidFill>
                          <a:srgbClr val="000000"/>
                        </a:solidFill>
                        <a:latin typeface="Arial"/>
                        <a:ea typeface="Arial"/>
                        <a:cs typeface="Arial"/>
                        <a:sym typeface="Aria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extLst>
                  <a:ext uri="{0D108BD9-81ED-4DB2-BD59-A6C34878D82A}">
                    <a16:rowId xmlns:a16="http://schemas.microsoft.com/office/drawing/2014/main" val="10000"/>
                  </a:ext>
                </a:extLst>
              </a:tr>
              <a:tr h="1193900">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dirty="0"/>
                        <a:t>Cheduruvelli </a:t>
                      </a:r>
                      <a:r>
                        <a:rPr lang="en-US" sz="1400" u="none" strike="noStrike" cap="none" dirty="0" err="1"/>
                        <a:t>shivaji</a:t>
                      </a:r>
                      <a:endParaRPr sz="1400" u="none" strike="noStrike" cap="none"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rtl="0">
                        <a:lnSpc>
                          <a:spcPct val="100000"/>
                        </a:lnSpc>
                        <a:spcBef>
                          <a:spcPts val="0"/>
                        </a:spcBef>
                        <a:spcAft>
                          <a:spcPts val="0"/>
                        </a:spcAft>
                        <a:buClr>
                          <a:srgbClr val="000000"/>
                        </a:buClr>
                        <a:buSzPts val="1800"/>
                        <a:buFont typeface="Arial"/>
                        <a:buNone/>
                      </a:pPr>
                      <a:endParaRPr sz="1800" u="none" strike="noStrike" cap="none"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dirty="0"/>
                        <a:t>shivajicheduruvelli2006@gmail.com</a:t>
                      </a:r>
                      <a:endParaRPr sz="1400" u="none" strike="noStrike" cap="none"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dirty="0"/>
                        <a:t>6303528417</a:t>
                      </a:r>
                      <a:endParaRPr sz="1400" u="none" strike="noStrike" cap="none"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extLst>
                  <a:ext uri="{0D108BD9-81ED-4DB2-BD59-A6C34878D82A}">
                    <a16:rowId xmlns:a16="http://schemas.microsoft.com/office/drawing/2014/main" val="10001"/>
                  </a:ext>
                </a:extLst>
              </a:tr>
            </a:tbl>
          </a:graphicData>
        </a:graphic>
      </p:graphicFrame>
      <p:sp>
        <p:nvSpPr>
          <p:cNvPr id="88" name="Google Shape;88;p2"/>
          <p:cNvSpPr txBox="1"/>
          <p:nvPr/>
        </p:nvSpPr>
        <p:spPr>
          <a:xfrm>
            <a:off x="1206164" y="1460724"/>
            <a:ext cx="10280254" cy="461665"/>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2400" b="1" i="0" u="none" strike="noStrike" cap="none">
                <a:solidFill>
                  <a:srgbClr val="000000"/>
                </a:solidFill>
                <a:latin typeface="Arial"/>
                <a:ea typeface="Arial"/>
                <a:cs typeface="Arial"/>
                <a:sym typeface="Arial"/>
              </a:rPr>
              <a:t>Domain of Project – Healthcare</a:t>
            </a:r>
            <a:endParaRPr sz="2400" b="1" i="0" u="none" strike="noStrike" cap="none">
              <a:solidFill>
                <a:srgbClr val="000000"/>
              </a:solidFill>
              <a:highlight>
                <a:srgbClr val="FFFF00"/>
              </a:highlight>
              <a:latin typeface="Arial"/>
              <a:ea typeface="Arial"/>
              <a:cs typeface="Arial"/>
              <a:sym typeface="Arial"/>
            </a:endParaRPr>
          </a:p>
        </p:txBody>
      </p:sp>
      <p:sp>
        <p:nvSpPr>
          <p:cNvPr id="89" name="Google Shape;89;p2"/>
          <p:cNvSpPr txBox="1"/>
          <p:nvPr/>
        </p:nvSpPr>
        <p:spPr>
          <a:xfrm>
            <a:off x="1206162" y="551965"/>
            <a:ext cx="9581177" cy="461665"/>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2400" b="1" i="0" u="none" strike="noStrike" cap="none">
                <a:solidFill>
                  <a:srgbClr val="000000"/>
                </a:solidFill>
                <a:latin typeface="Arial"/>
                <a:ea typeface="Arial"/>
                <a:cs typeface="Arial"/>
                <a:sym typeface="Arial"/>
              </a:rPr>
              <a:t>Project Title – SmartBite: Personalized AI Nutrition Agent</a:t>
            </a:r>
            <a:endParaRPr sz="2400" b="1" i="0" u="none" strike="noStrike" cap="none">
              <a:solidFill>
                <a:srgbClr val="000000"/>
              </a:solidFill>
              <a:highlight>
                <a:srgbClr val="FFFF00"/>
              </a:highlight>
              <a:latin typeface="Arial"/>
              <a:ea typeface="Arial"/>
              <a:cs typeface="Arial"/>
              <a:sym typeface="Arial"/>
            </a:endParaRPr>
          </a:p>
        </p:txBody>
      </p:sp>
      <p:pic>
        <p:nvPicPr>
          <p:cNvPr id="3" name="Picture 2">
            <a:extLst>
              <a:ext uri="{FF2B5EF4-FFF2-40B4-BE49-F238E27FC236}">
                <a16:creationId xmlns:a16="http://schemas.microsoft.com/office/drawing/2014/main" id="{76ECFF8D-D59B-F586-701E-065ECB4DE235}"/>
              </a:ext>
            </a:extLst>
          </p:cNvPr>
          <p:cNvPicPr>
            <a:picLocks noChangeAspect="1"/>
          </p:cNvPicPr>
          <p:nvPr/>
        </p:nvPicPr>
        <p:blipFill>
          <a:blip r:embed="rId3"/>
          <a:stretch>
            <a:fillRect/>
          </a:stretch>
        </p:blipFill>
        <p:spPr>
          <a:xfrm>
            <a:off x="3921597" y="3521227"/>
            <a:ext cx="896209" cy="1246213"/>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94"/>
        <p:cNvGrpSpPr/>
        <p:nvPr/>
      </p:nvGrpSpPr>
      <p:grpSpPr>
        <a:xfrm>
          <a:off x="0" y="0"/>
          <a:ext cx="0" cy="0"/>
          <a:chOff x="0" y="0"/>
          <a:chExt cx="0" cy="0"/>
        </a:xfrm>
      </p:grpSpPr>
      <p:sp>
        <p:nvSpPr>
          <p:cNvPr id="95" name="Google Shape;95;p34"/>
          <p:cNvSpPr txBox="1"/>
          <p:nvPr/>
        </p:nvSpPr>
        <p:spPr>
          <a:xfrm>
            <a:off x="576072" y="1234440"/>
            <a:ext cx="10607040" cy="5047536"/>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1400" b="1" i="0" u="none" strike="noStrike" cap="none">
                <a:solidFill>
                  <a:srgbClr val="000000"/>
                </a:solidFill>
                <a:latin typeface="Arial"/>
                <a:ea typeface="Arial"/>
                <a:cs typeface="Arial"/>
                <a:sym typeface="Arial"/>
              </a:rPr>
              <a:t>Problem Statement : Nutrition Agent</a:t>
            </a:r>
            <a:r>
              <a:rPr lang="en-US" sz="1400" b="0" i="0" u="none" strike="noStrike" cap="none">
                <a:solidFill>
                  <a:srgbClr val="000000"/>
                </a:solidFill>
                <a:latin typeface="Arial"/>
                <a:ea typeface="Arial"/>
                <a:cs typeface="Arial"/>
                <a:sym typeface="Arial"/>
              </a:rPr>
              <a:t> </a:t>
            </a:r>
            <a:endParaRPr/>
          </a:p>
          <a:p>
            <a:pPr marL="0" marR="0" lvl="0" indent="0" algn="l" rtl="0">
              <a:lnSpc>
                <a:spcPct val="100000"/>
              </a:lnSpc>
              <a:spcBef>
                <a:spcPts val="0"/>
              </a:spcBef>
              <a:spcAft>
                <a:spcPts val="0"/>
              </a:spcAft>
              <a:buNone/>
            </a:pPr>
            <a:endParaRPr sz="1400" b="1" i="0" u="none" strike="noStrike" cap="none">
              <a:solidFill>
                <a:srgbClr val="000000"/>
              </a:solidFill>
              <a:latin typeface="Arial"/>
              <a:ea typeface="Arial"/>
              <a:cs typeface="Arial"/>
              <a:sym typeface="Arial"/>
            </a:endParaRPr>
          </a:p>
          <a:p>
            <a:pPr marL="0" marR="0" lvl="0" indent="0" algn="l" rtl="0">
              <a:lnSpc>
                <a:spcPct val="100000"/>
              </a:lnSpc>
              <a:spcBef>
                <a:spcPts val="0"/>
              </a:spcBef>
              <a:spcAft>
                <a:spcPts val="0"/>
              </a:spcAft>
              <a:buNone/>
            </a:pPr>
            <a:r>
              <a:rPr lang="en-US" sz="1400" b="1" i="0" u="none" strike="noStrike" cap="none">
                <a:solidFill>
                  <a:srgbClr val="000000"/>
                </a:solidFill>
                <a:latin typeface="Arial"/>
                <a:ea typeface="Arial"/>
                <a:cs typeface="Arial"/>
                <a:sym typeface="Arial"/>
              </a:rPr>
              <a:t>The Challenge</a:t>
            </a:r>
            <a:r>
              <a:rPr lang="en-US" sz="1400" b="0" i="0" u="none" strike="noStrike" cap="none">
                <a:solidFill>
                  <a:srgbClr val="000000"/>
                </a:solidFill>
                <a:latin typeface="Arial"/>
                <a:ea typeface="Arial"/>
                <a:cs typeface="Arial"/>
                <a:sym typeface="Arial"/>
              </a:rPr>
              <a:t> </a:t>
            </a:r>
            <a:endParaRPr/>
          </a:p>
          <a:p>
            <a:pPr marL="0" marR="0" lvl="0" indent="0" algn="l" rtl="0">
              <a:lnSpc>
                <a:spcPct val="100000"/>
              </a:lnSpc>
              <a:spcBef>
                <a:spcPts val="0"/>
              </a:spcBef>
              <a:spcAft>
                <a:spcPts val="0"/>
              </a:spcAft>
              <a:buNone/>
            </a:pPr>
            <a:r>
              <a:rPr lang="en-US" sz="1400" b="0" i="0" u="none" strike="noStrike" cap="none">
                <a:solidFill>
                  <a:srgbClr val="000000"/>
                </a:solidFill>
                <a:latin typeface="Arial"/>
                <a:ea typeface="Arial"/>
                <a:cs typeface="Arial"/>
                <a:sym typeface="Arial"/>
              </a:rPr>
              <a:t>Good nutrition is the foundation of health, but individuals often struggle with </a:t>
            </a:r>
            <a:r>
              <a:rPr lang="en-US" sz="1400" b="1" i="0" u="none" strike="noStrike" cap="none">
                <a:solidFill>
                  <a:srgbClr val="000000"/>
                </a:solidFill>
                <a:latin typeface="Arial"/>
                <a:ea typeface="Arial"/>
                <a:cs typeface="Arial"/>
                <a:sym typeface="Arial"/>
              </a:rPr>
              <a:t>diet planning, portion control, and tracking nutritional intake</a:t>
            </a:r>
            <a:r>
              <a:rPr lang="en-US" sz="1400" b="0" i="0" u="none" strike="noStrike" cap="none">
                <a:solidFill>
                  <a:srgbClr val="000000"/>
                </a:solidFill>
                <a:latin typeface="Arial"/>
                <a:ea typeface="Arial"/>
                <a:cs typeface="Arial"/>
                <a:sym typeface="Arial"/>
              </a:rPr>
              <a:t>. Information about healthy diets, disease-specific nutrition, and food composition is scattered across unreliable sources. Without </a:t>
            </a:r>
            <a:r>
              <a:rPr lang="en-US" sz="1400" b="1" i="0" u="none" strike="noStrike" cap="none">
                <a:solidFill>
                  <a:srgbClr val="000000"/>
                </a:solidFill>
                <a:latin typeface="Arial"/>
                <a:ea typeface="Arial"/>
                <a:cs typeface="Arial"/>
                <a:sym typeface="Arial"/>
              </a:rPr>
              <a:t>personalized, real-time guidance</a:t>
            </a:r>
            <a:r>
              <a:rPr lang="en-US" sz="1400" b="0" i="0" u="none" strike="noStrike" cap="none">
                <a:solidFill>
                  <a:srgbClr val="000000"/>
                </a:solidFill>
                <a:latin typeface="Arial"/>
                <a:ea typeface="Arial"/>
                <a:cs typeface="Arial"/>
                <a:sym typeface="Arial"/>
              </a:rPr>
              <a:t>, many fail to maintain balanced diets or make informed food choices. </a:t>
            </a:r>
            <a:endParaRPr/>
          </a:p>
          <a:p>
            <a:pPr marL="0" marR="0" lvl="0" indent="0" algn="l"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a:p>
            <a:pPr marL="0" marR="0" lvl="0" indent="0" algn="l" rtl="0">
              <a:lnSpc>
                <a:spcPct val="100000"/>
              </a:lnSpc>
              <a:spcBef>
                <a:spcPts val="0"/>
              </a:spcBef>
              <a:spcAft>
                <a:spcPts val="0"/>
              </a:spcAft>
              <a:buNone/>
            </a:pPr>
            <a:r>
              <a:rPr lang="en-US" sz="1400" b="1" i="0" u="none" strike="noStrike" cap="none">
                <a:solidFill>
                  <a:srgbClr val="000000"/>
                </a:solidFill>
                <a:latin typeface="Arial"/>
                <a:ea typeface="Arial"/>
                <a:cs typeface="Arial"/>
                <a:sym typeface="Arial"/>
              </a:rPr>
              <a:t>The Objective</a:t>
            </a:r>
            <a:r>
              <a:rPr lang="en-US" sz="1400" b="0" i="0" u="none" strike="noStrike" cap="none">
                <a:solidFill>
                  <a:srgbClr val="000000"/>
                </a:solidFill>
                <a:latin typeface="Arial"/>
                <a:ea typeface="Arial"/>
                <a:cs typeface="Arial"/>
                <a:sym typeface="Arial"/>
              </a:rPr>
              <a:t> </a:t>
            </a:r>
            <a:endParaRPr/>
          </a:p>
          <a:p>
            <a:pPr marL="0" marR="0" lvl="0" indent="0" algn="l" rtl="0">
              <a:lnSpc>
                <a:spcPct val="100000"/>
              </a:lnSpc>
              <a:spcBef>
                <a:spcPts val="0"/>
              </a:spcBef>
              <a:spcAft>
                <a:spcPts val="0"/>
              </a:spcAft>
              <a:buNone/>
            </a:pPr>
            <a:r>
              <a:rPr lang="en-US" sz="1400" b="0" i="0" u="none" strike="noStrike" cap="none">
                <a:solidFill>
                  <a:srgbClr val="000000"/>
                </a:solidFill>
                <a:latin typeface="Arial"/>
                <a:ea typeface="Arial"/>
                <a:cs typeface="Arial"/>
                <a:sym typeface="Arial"/>
              </a:rPr>
              <a:t>Build an </a:t>
            </a:r>
            <a:r>
              <a:rPr lang="en-US" sz="1400" b="1" i="0" u="none" strike="noStrike" cap="none">
                <a:solidFill>
                  <a:srgbClr val="000000"/>
                </a:solidFill>
                <a:latin typeface="Arial"/>
                <a:ea typeface="Arial"/>
                <a:cs typeface="Arial"/>
                <a:sym typeface="Arial"/>
              </a:rPr>
              <a:t>AI-powered Nutrition Agent</a:t>
            </a:r>
            <a:r>
              <a:rPr lang="en-US" sz="1400" b="0" i="0" u="none" strike="noStrike" cap="none">
                <a:solidFill>
                  <a:srgbClr val="000000"/>
                </a:solidFill>
                <a:latin typeface="Arial"/>
                <a:ea typeface="Arial"/>
                <a:cs typeface="Arial"/>
                <a:sym typeface="Arial"/>
              </a:rPr>
              <a:t> that delivers </a:t>
            </a:r>
            <a:r>
              <a:rPr lang="en-US" sz="1400" b="1" i="0" u="none" strike="noStrike" cap="none">
                <a:solidFill>
                  <a:srgbClr val="000000"/>
                </a:solidFill>
                <a:latin typeface="Arial"/>
                <a:ea typeface="Arial"/>
                <a:cs typeface="Arial"/>
                <a:sym typeface="Arial"/>
              </a:rPr>
              <a:t>personalized dietary insights and guidance</a:t>
            </a:r>
            <a:r>
              <a:rPr lang="en-US" sz="1400" b="0" i="0" u="none" strike="noStrike" cap="none">
                <a:solidFill>
                  <a:srgbClr val="000000"/>
                </a:solidFill>
                <a:latin typeface="Arial"/>
                <a:ea typeface="Arial"/>
                <a:cs typeface="Arial"/>
                <a:sym typeface="Arial"/>
              </a:rPr>
              <a:t> for individuals, families, and health professionals. The solution should: </a:t>
            </a:r>
            <a:endParaRPr/>
          </a:p>
          <a:p>
            <a:pPr marL="285750" marR="0" lvl="0" indent="-285750" algn="l" rtl="0">
              <a:lnSpc>
                <a:spcPct val="100000"/>
              </a:lnSpc>
              <a:spcBef>
                <a:spcPts val="0"/>
              </a:spcBef>
              <a:spcAft>
                <a:spcPts val="0"/>
              </a:spcAft>
              <a:buClr>
                <a:srgbClr val="000000"/>
              </a:buClr>
              <a:buSzPts val="1400"/>
              <a:buFont typeface="Arial"/>
              <a:buChar char="•"/>
            </a:pPr>
            <a:r>
              <a:rPr lang="en-US" sz="1400" b="1" i="0" u="none" strike="noStrike" cap="none">
                <a:solidFill>
                  <a:srgbClr val="000000"/>
                </a:solidFill>
                <a:latin typeface="Arial"/>
                <a:ea typeface="Arial"/>
                <a:cs typeface="Arial"/>
                <a:sym typeface="Arial"/>
              </a:rPr>
              <a:t>Personalized Diet Plans</a:t>
            </a:r>
            <a:r>
              <a:rPr lang="en-US" sz="1400" b="0" i="0" u="none" strike="noStrike" cap="none">
                <a:solidFill>
                  <a:srgbClr val="000000"/>
                </a:solidFill>
                <a:latin typeface="Arial"/>
                <a:ea typeface="Arial"/>
                <a:cs typeface="Arial"/>
                <a:sym typeface="Arial"/>
              </a:rPr>
              <a:t> – Recommend meals based on age, health conditions, allergies, cultural preferences, and fitness goals. </a:t>
            </a:r>
            <a:endParaRPr/>
          </a:p>
          <a:p>
            <a:pPr marL="285750" marR="0" lvl="0" indent="-285750" algn="l" rtl="0">
              <a:lnSpc>
                <a:spcPct val="100000"/>
              </a:lnSpc>
              <a:spcBef>
                <a:spcPts val="0"/>
              </a:spcBef>
              <a:spcAft>
                <a:spcPts val="0"/>
              </a:spcAft>
              <a:buClr>
                <a:srgbClr val="000000"/>
              </a:buClr>
              <a:buSzPts val="1400"/>
              <a:buFont typeface="Arial"/>
              <a:buChar char="•"/>
            </a:pPr>
            <a:r>
              <a:rPr lang="en-US" sz="1400" b="1" i="0" u="none" strike="noStrike" cap="none">
                <a:solidFill>
                  <a:srgbClr val="000000"/>
                </a:solidFill>
                <a:latin typeface="Arial"/>
                <a:ea typeface="Arial"/>
                <a:cs typeface="Arial"/>
                <a:sym typeface="Arial"/>
              </a:rPr>
              <a:t>Food Data RAG Retrieval</a:t>
            </a:r>
            <a:r>
              <a:rPr lang="en-US" sz="1400" b="0" i="0" u="none" strike="noStrike" cap="none">
                <a:solidFill>
                  <a:srgbClr val="000000"/>
                </a:solidFill>
                <a:latin typeface="Arial"/>
                <a:ea typeface="Arial"/>
                <a:cs typeface="Arial"/>
                <a:sym typeface="Arial"/>
              </a:rPr>
              <a:t> – Fetch and summarize nutritional values (calories, macros, vitamins) from reliable sources. </a:t>
            </a:r>
            <a:endParaRPr/>
          </a:p>
          <a:p>
            <a:pPr marL="285750" marR="0" lvl="0" indent="-285750" algn="l" rtl="0">
              <a:lnSpc>
                <a:spcPct val="100000"/>
              </a:lnSpc>
              <a:spcBef>
                <a:spcPts val="0"/>
              </a:spcBef>
              <a:spcAft>
                <a:spcPts val="0"/>
              </a:spcAft>
              <a:buClr>
                <a:srgbClr val="000000"/>
              </a:buClr>
              <a:buSzPts val="1400"/>
              <a:buFont typeface="Arial"/>
              <a:buChar char="•"/>
            </a:pPr>
            <a:r>
              <a:rPr lang="en-US" sz="1400" b="1" i="0" u="none" strike="noStrike" cap="none">
                <a:solidFill>
                  <a:srgbClr val="000000"/>
                </a:solidFill>
                <a:latin typeface="Arial"/>
                <a:ea typeface="Arial"/>
                <a:cs typeface="Arial"/>
                <a:sym typeface="Arial"/>
              </a:rPr>
              <a:t>Diet Tracking &amp; Feedback</a:t>
            </a:r>
            <a:r>
              <a:rPr lang="en-US" sz="1400" b="0" i="0" u="none" strike="noStrike" cap="none">
                <a:solidFill>
                  <a:srgbClr val="000000"/>
                </a:solidFill>
                <a:latin typeface="Arial"/>
                <a:ea typeface="Arial"/>
                <a:cs typeface="Arial"/>
                <a:sym typeface="Arial"/>
              </a:rPr>
              <a:t> – Allow users to log meals via text, images, or voice, and provide instant nutritional analysis. </a:t>
            </a:r>
            <a:endParaRPr/>
          </a:p>
          <a:p>
            <a:pPr marL="285750" marR="0" lvl="0" indent="-285750" algn="l" rtl="0">
              <a:lnSpc>
                <a:spcPct val="100000"/>
              </a:lnSpc>
              <a:spcBef>
                <a:spcPts val="0"/>
              </a:spcBef>
              <a:spcAft>
                <a:spcPts val="0"/>
              </a:spcAft>
              <a:buClr>
                <a:srgbClr val="000000"/>
              </a:buClr>
              <a:buSzPts val="1400"/>
              <a:buFont typeface="Arial"/>
              <a:buChar char="•"/>
            </a:pPr>
            <a:r>
              <a:rPr lang="en-US" sz="1400" b="1" i="0" u="none" strike="noStrike" cap="none">
                <a:solidFill>
                  <a:srgbClr val="000000"/>
                </a:solidFill>
                <a:latin typeface="Arial"/>
                <a:ea typeface="Arial"/>
                <a:cs typeface="Arial"/>
                <a:sym typeface="Arial"/>
              </a:rPr>
              <a:t>Preventive Health Focus</a:t>
            </a:r>
            <a:r>
              <a:rPr lang="en-US" sz="1400" b="0" i="0" u="none" strike="noStrike" cap="none">
                <a:solidFill>
                  <a:srgbClr val="000000"/>
                </a:solidFill>
                <a:latin typeface="Arial"/>
                <a:ea typeface="Arial"/>
                <a:cs typeface="Arial"/>
                <a:sym typeface="Arial"/>
              </a:rPr>
              <a:t> – Suggest diets for chronic disease management (e.g., diabetes-friendly or heart-healthy plans). </a:t>
            </a:r>
            <a:endParaRPr/>
          </a:p>
          <a:p>
            <a:pPr marL="285750" marR="0" lvl="0" indent="-285750" algn="l" rtl="0">
              <a:lnSpc>
                <a:spcPct val="100000"/>
              </a:lnSpc>
              <a:spcBef>
                <a:spcPts val="0"/>
              </a:spcBef>
              <a:spcAft>
                <a:spcPts val="0"/>
              </a:spcAft>
              <a:buClr>
                <a:srgbClr val="000000"/>
              </a:buClr>
              <a:buSzPts val="1400"/>
              <a:buFont typeface="Arial"/>
              <a:buChar char="•"/>
            </a:pPr>
            <a:r>
              <a:rPr lang="en-US" sz="1400" b="1" i="0" u="none" strike="noStrike" cap="none">
                <a:solidFill>
                  <a:srgbClr val="000000"/>
                </a:solidFill>
                <a:latin typeface="Arial"/>
                <a:ea typeface="Arial"/>
                <a:cs typeface="Arial"/>
                <a:sym typeface="Arial"/>
              </a:rPr>
              <a:t>Multi-Agent System</a:t>
            </a:r>
            <a:r>
              <a:rPr lang="en-US" sz="1400" b="0" i="0" u="none" strike="noStrike" cap="none">
                <a:solidFill>
                  <a:srgbClr val="000000"/>
                </a:solidFill>
                <a:latin typeface="Arial"/>
                <a:ea typeface="Arial"/>
                <a:cs typeface="Arial"/>
                <a:sym typeface="Arial"/>
              </a:rPr>
              <a:t> – </a:t>
            </a:r>
            <a:endParaRPr/>
          </a:p>
          <a:p>
            <a:pPr marL="285750" marR="0" lvl="0" indent="-285750" algn="l" rtl="0">
              <a:lnSpc>
                <a:spcPct val="100000"/>
              </a:lnSpc>
              <a:spcBef>
                <a:spcPts val="0"/>
              </a:spcBef>
              <a:spcAft>
                <a:spcPts val="0"/>
              </a:spcAft>
              <a:buClr>
                <a:srgbClr val="000000"/>
              </a:buClr>
              <a:buSzPts val="1400"/>
              <a:buFont typeface="Arial"/>
              <a:buChar char="•"/>
            </a:pPr>
            <a:r>
              <a:rPr lang="en-US" sz="1400" b="1" i="0" u="none" strike="noStrike" cap="none">
                <a:solidFill>
                  <a:srgbClr val="000000"/>
                </a:solidFill>
                <a:latin typeface="Arial"/>
                <a:ea typeface="Arial"/>
                <a:cs typeface="Arial"/>
                <a:sym typeface="Arial"/>
              </a:rPr>
              <a:t>Nutrition Knowledge Agent</a:t>
            </a:r>
            <a:r>
              <a:rPr lang="en-US" sz="1400" b="0" i="0" u="none" strike="noStrike" cap="none">
                <a:solidFill>
                  <a:srgbClr val="000000"/>
                </a:solidFill>
                <a:latin typeface="Arial"/>
                <a:ea typeface="Arial"/>
                <a:cs typeface="Arial"/>
                <a:sym typeface="Arial"/>
              </a:rPr>
              <a:t> (fetches nutritional data) </a:t>
            </a:r>
            <a:endParaRPr/>
          </a:p>
          <a:p>
            <a:pPr marL="285750" marR="0" lvl="0" indent="-285750" algn="l" rtl="0">
              <a:lnSpc>
                <a:spcPct val="100000"/>
              </a:lnSpc>
              <a:spcBef>
                <a:spcPts val="0"/>
              </a:spcBef>
              <a:spcAft>
                <a:spcPts val="0"/>
              </a:spcAft>
              <a:buClr>
                <a:srgbClr val="000000"/>
              </a:buClr>
              <a:buSzPts val="1400"/>
              <a:buFont typeface="Arial"/>
              <a:buChar char="•"/>
            </a:pPr>
            <a:r>
              <a:rPr lang="en-US" sz="1400" b="1" i="0" u="none" strike="noStrike" cap="none">
                <a:solidFill>
                  <a:srgbClr val="000000"/>
                </a:solidFill>
                <a:latin typeface="Arial"/>
                <a:ea typeface="Arial"/>
                <a:cs typeface="Arial"/>
                <a:sym typeface="Arial"/>
              </a:rPr>
              <a:t>Diet Recommendation Agent</a:t>
            </a:r>
            <a:r>
              <a:rPr lang="en-US" sz="1400" b="0" i="0" u="none" strike="noStrike" cap="none">
                <a:solidFill>
                  <a:srgbClr val="000000"/>
                </a:solidFill>
                <a:latin typeface="Arial"/>
                <a:ea typeface="Arial"/>
                <a:cs typeface="Arial"/>
                <a:sym typeface="Arial"/>
              </a:rPr>
              <a:t> (personalized meal plans) </a:t>
            </a:r>
            <a:endParaRPr/>
          </a:p>
          <a:p>
            <a:pPr marL="285750" marR="0" lvl="0" indent="-285750" algn="l" rtl="0">
              <a:lnSpc>
                <a:spcPct val="100000"/>
              </a:lnSpc>
              <a:spcBef>
                <a:spcPts val="0"/>
              </a:spcBef>
              <a:spcAft>
                <a:spcPts val="0"/>
              </a:spcAft>
              <a:buClr>
                <a:srgbClr val="000000"/>
              </a:buClr>
              <a:buSzPts val="1400"/>
              <a:buFont typeface="Arial"/>
              <a:buChar char="•"/>
            </a:pPr>
            <a:r>
              <a:rPr lang="en-US" sz="1400" b="1" i="0" u="none" strike="noStrike" cap="none">
                <a:solidFill>
                  <a:srgbClr val="000000"/>
                </a:solidFill>
                <a:latin typeface="Arial"/>
                <a:ea typeface="Arial"/>
                <a:cs typeface="Arial"/>
                <a:sym typeface="Arial"/>
              </a:rPr>
              <a:t>Health Advisory Agent</a:t>
            </a:r>
            <a:r>
              <a:rPr lang="en-US" sz="1400" b="0" i="0" u="none" strike="noStrike" cap="none">
                <a:solidFill>
                  <a:srgbClr val="000000"/>
                </a:solidFill>
                <a:latin typeface="Arial"/>
                <a:ea typeface="Arial"/>
                <a:cs typeface="Arial"/>
                <a:sym typeface="Arial"/>
              </a:rPr>
              <a:t> (preventive health suggestions) </a:t>
            </a:r>
            <a:endParaRPr/>
          </a:p>
          <a:p>
            <a:pPr marL="285750" marR="0" lvl="0" indent="-285750" algn="l" rtl="0">
              <a:lnSpc>
                <a:spcPct val="100000"/>
              </a:lnSpc>
              <a:spcBef>
                <a:spcPts val="0"/>
              </a:spcBef>
              <a:spcAft>
                <a:spcPts val="0"/>
              </a:spcAft>
              <a:buClr>
                <a:srgbClr val="000000"/>
              </a:buClr>
              <a:buSzPts val="1400"/>
              <a:buFont typeface="Arial"/>
              <a:buChar char="•"/>
            </a:pPr>
            <a:r>
              <a:rPr lang="en-US" sz="1400" b="1" i="0" u="none" strike="noStrike" cap="none">
                <a:solidFill>
                  <a:srgbClr val="000000"/>
                </a:solidFill>
                <a:latin typeface="Arial"/>
                <a:ea typeface="Arial"/>
                <a:cs typeface="Arial"/>
                <a:sym typeface="Arial"/>
              </a:rPr>
              <a:t>Food Log &amp; Feedback Agent</a:t>
            </a:r>
            <a:r>
              <a:rPr lang="en-US" sz="1400" b="0" i="0" u="none" strike="noStrike" cap="none">
                <a:solidFill>
                  <a:srgbClr val="000000"/>
                </a:solidFill>
                <a:latin typeface="Arial"/>
                <a:ea typeface="Arial"/>
                <a:cs typeface="Arial"/>
                <a:sym typeface="Arial"/>
              </a:rPr>
              <a:t> (meal tracking + analysis) </a:t>
            </a:r>
            <a:endParaRPr/>
          </a:p>
          <a:p>
            <a:pPr marL="285750" marR="0" lvl="0" indent="-285750" algn="l" rtl="0">
              <a:lnSpc>
                <a:spcPct val="100000"/>
              </a:lnSpc>
              <a:spcBef>
                <a:spcPts val="0"/>
              </a:spcBef>
              <a:spcAft>
                <a:spcPts val="0"/>
              </a:spcAft>
              <a:buClr>
                <a:srgbClr val="000000"/>
              </a:buClr>
              <a:buSzPts val="1400"/>
              <a:buFont typeface="Arial"/>
              <a:buChar char="•"/>
            </a:pPr>
            <a:r>
              <a:rPr lang="en-US" sz="1400" b="1" i="0" u="none" strike="noStrike" cap="none">
                <a:solidFill>
                  <a:srgbClr val="000000"/>
                </a:solidFill>
                <a:latin typeface="Arial"/>
                <a:ea typeface="Arial"/>
                <a:cs typeface="Arial"/>
                <a:sym typeface="Arial"/>
              </a:rPr>
              <a:t>Visualization Dashboard</a:t>
            </a:r>
            <a:r>
              <a:rPr lang="en-US" sz="1400" b="0" i="0" u="none" strike="noStrike" cap="none">
                <a:solidFill>
                  <a:srgbClr val="000000"/>
                </a:solidFill>
                <a:latin typeface="Arial"/>
                <a:ea typeface="Arial"/>
                <a:cs typeface="Arial"/>
                <a:sym typeface="Arial"/>
              </a:rPr>
              <a:t> – Show daily/weekly nutrient intake, deficiencies, and progress toward health goals. </a:t>
            </a:r>
            <a:endParaRPr/>
          </a:p>
          <a:p>
            <a:pPr marL="0" marR="0" lvl="0" indent="0" algn="l"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a:p>
            <a:pPr marL="0" marR="0" lvl="0" indent="0" algn="l"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96" name="Google Shape;96;p34"/>
          <p:cNvSpPr txBox="1"/>
          <p:nvPr/>
        </p:nvSpPr>
        <p:spPr>
          <a:xfrm>
            <a:off x="576072" y="704088"/>
            <a:ext cx="7214616" cy="461665"/>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2400" b="1" i="0" u="none" strike="noStrike" cap="none">
                <a:solidFill>
                  <a:srgbClr val="000000"/>
                </a:solidFill>
                <a:latin typeface="Arial"/>
                <a:ea typeface="Arial"/>
                <a:cs typeface="Arial"/>
                <a:sym typeface="Arial"/>
              </a:rPr>
              <a:t>Problem Statement -</a:t>
            </a:r>
            <a:endParaRPr sz="2400" b="1" i="0" u="none" strike="noStrike" cap="none">
              <a:solidFill>
                <a:srgbClr val="000000"/>
              </a:solidFill>
              <a:latin typeface="Arial"/>
              <a:ea typeface="Arial"/>
              <a:cs typeface="Arial"/>
              <a:sym typeface="Aria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0"/>
        <p:cNvGrpSpPr/>
        <p:nvPr/>
      </p:nvGrpSpPr>
      <p:grpSpPr>
        <a:xfrm>
          <a:off x="0" y="0"/>
          <a:ext cx="0" cy="0"/>
          <a:chOff x="0" y="0"/>
          <a:chExt cx="0" cy="0"/>
        </a:xfrm>
      </p:grpSpPr>
      <p:sp>
        <p:nvSpPr>
          <p:cNvPr id="101" name="Google Shape;101;p35"/>
          <p:cNvSpPr txBox="1"/>
          <p:nvPr/>
        </p:nvSpPr>
        <p:spPr>
          <a:xfrm>
            <a:off x="455468" y="1168656"/>
            <a:ext cx="10607040" cy="5262979"/>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endParaRPr sz="1400" b="1" i="0" u="none" strike="noStrike" cap="none" dirty="0">
              <a:solidFill>
                <a:srgbClr val="000000"/>
              </a:solidFill>
              <a:latin typeface="Arial"/>
              <a:ea typeface="Arial"/>
              <a:cs typeface="Arial"/>
              <a:sym typeface="Arial"/>
            </a:endParaRPr>
          </a:p>
          <a:p>
            <a:pPr marL="0" marR="0" lvl="0" indent="0" algn="l" rtl="0">
              <a:lnSpc>
                <a:spcPct val="100000"/>
              </a:lnSpc>
              <a:spcBef>
                <a:spcPts val="0"/>
              </a:spcBef>
              <a:spcAft>
                <a:spcPts val="0"/>
              </a:spcAft>
              <a:buNone/>
            </a:pPr>
            <a:r>
              <a:rPr lang="en-US" sz="1400" b="1" i="0" u="none" strike="noStrike" cap="none" dirty="0">
                <a:solidFill>
                  <a:srgbClr val="000000"/>
                </a:solidFill>
                <a:latin typeface="Arial"/>
                <a:ea typeface="Arial"/>
                <a:cs typeface="Arial"/>
                <a:sym typeface="Arial"/>
              </a:rPr>
              <a:t>Proposed Solution: AI-Powered Nutrition Agent</a:t>
            </a:r>
            <a:endParaRPr dirty="0"/>
          </a:p>
          <a:p>
            <a:pPr marL="0" marR="0" lvl="0" indent="0" algn="l" rtl="0">
              <a:lnSpc>
                <a:spcPct val="100000"/>
              </a:lnSpc>
              <a:spcBef>
                <a:spcPts val="0"/>
              </a:spcBef>
              <a:spcAft>
                <a:spcPts val="0"/>
              </a:spcAft>
              <a:buNone/>
            </a:pPr>
            <a:r>
              <a:rPr lang="en-US" sz="1400" b="0" i="0" u="none" strike="noStrike" cap="none" dirty="0">
                <a:solidFill>
                  <a:srgbClr val="000000"/>
                </a:solidFill>
                <a:latin typeface="Arial"/>
                <a:ea typeface="Arial"/>
                <a:cs typeface="Arial"/>
                <a:sym typeface="Arial"/>
              </a:rPr>
              <a:t>The proposed solution is a </a:t>
            </a:r>
            <a:r>
              <a:rPr lang="en-US" sz="1400" b="1" i="0" u="none" strike="noStrike" cap="none" dirty="0">
                <a:solidFill>
                  <a:srgbClr val="000000"/>
                </a:solidFill>
                <a:latin typeface="Arial"/>
                <a:ea typeface="Arial"/>
                <a:cs typeface="Arial"/>
                <a:sym typeface="Arial"/>
              </a:rPr>
              <a:t>multi-agent AI-powered Nutrition Agent</a:t>
            </a:r>
            <a:r>
              <a:rPr lang="en-US" sz="1400" b="0" i="0" u="none" strike="noStrike" cap="none" dirty="0">
                <a:solidFill>
                  <a:srgbClr val="000000"/>
                </a:solidFill>
                <a:latin typeface="Arial"/>
                <a:ea typeface="Arial"/>
                <a:cs typeface="Arial"/>
                <a:sym typeface="Arial"/>
              </a:rPr>
              <a:t> built using </a:t>
            </a:r>
            <a:r>
              <a:rPr lang="en-US" sz="1400" b="1" i="0" u="none" strike="noStrike" cap="none" dirty="0" err="1">
                <a:solidFill>
                  <a:srgbClr val="000000"/>
                </a:solidFill>
                <a:latin typeface="Arial"/>
                <a:ea typeface="Arial"/>
                <a:cs typeface="Arial"/>
                <a:sym typeface="Arial"/>
              </a:rPr>
              <a:t>LangFlow</a:t>
            </a:r>
            <a:r>
              <a:rPr lang="en-US" sz="1400" b="1" i="0" u="none" strike="noStrike" cap="none" dirty="0">
                <a:solidFill>
                  <a:srgbClr val="000000"/>
                </a:solidFill>
                <a:latin typeface="Arial"/>
                <a:ea typeface="Arial"/>
                <a:cs typeface="Arial"/>
                <a:sym typeface="Arial"/>
              </a:rPr>
              <a:t>, IBM watsonx.ai, and Granite Models</a:t>
            </a:r>
            <a:r>
              <a:rPr lang="en-US" sz="1400" b="0" i="0" u="none" strike="noStrike" cap="none" dirty="0">
                <a:solidFill>
                  <a:srgbClr val="000000"/>
                </a:solidFill>
                <a:latin typeface="Arial"/>
                <a:ea typeface="Arial"/>
                <a:cs typeface="Arial"/>
                <a:sym typeface="Arial"/>
              </a:rPr>
              <a:t> to provide personalized, real-time dietary guidance. The system addresses challenges in diet planning, nutrition tracking, and preventive healthcare through an intelligent, modular architecture.</a:t>
            </a:r>
            <a:endParaRPr dirty="0"/>
          </a:p>
          <a:p>
            <a:pPr marL="0" marR="0" lvl="0" indent="0" algn="l" rtl="0">
              <a:lnSpc>
                <a:spcPct val="100000"/>
              </a:lnSpc>
              <a:spcBef>
                <a:spcPts val="0"/>
              </a:spcBef>
              <a:spcAft>
                <a:spcPts val="0"/>
              </a:spcAft>
              <a:buNone/>
            </a:pPr>
            <a:r>
              <a:rPr lang="en-US" sz="1400" b="0" i="0" u="none" strike="noStrike" cap="none" dirty="0">
                <a:solidFill>
                  <a:srgbClr val="000000"/>
                </a:solidFill>
                <a:latin typeface="Arial"/>
                <a:ea typeface="Arial"/>
                <a:cs typeface="Arial"/>
                <a:sym typeface="Arial"/>
              </a:rPr>
              <a:t>At its core, the solution uses a </a:t>
            </a:r>
            <a:r>
              <a:rPr lang="en-US" sz="1400" b="1" i="0" u="none" strike="noStrike" cap="none" dirty="0">
                <a:solidFill>
                  <a:srgbClr val="000000"/>
                </a:solidFill>
                <a:latin typeface="Arial"/>
                <a:ea typeface="Arial"/>
                <a:cs typeface="Arial"/>
                <a:sym typeface="Arial"/>
              </a:rPr>
              <a:t>Retrieval-Augmented Generation (RAG)</a:t>
            </a:r>
            <a:r>
              <a:rPr lang="en-US" sz="1400" b="0" i="0" u="none" strike="noStrike" cap="none" dirty="0">
                <a:solidFill>
                  <a:srgbClr val="000000"/>
                </a:solidFill>
                <a:latin typeface="Arial"/>
                <a:ea typeface="Arial"/>
                <a:cs typeface="Arial"/>
                <a:sym typeface="Arial"/>
              </a:rPr>
              <a:t> pipeline to fetch accurate nutritional data from trusted sources such as USDA and WHO datasets. This data is embedded and stored in a vector database, enabling the system to retrieve and summarize food nutrition details (calories, macros, vitamins) using Granite models.</a:t>
            </a:r>
            <a:endParaRPr dirty="0"/>
          </a:p>
          <a:p>
            <a:pPr marL="0" marR="0" lvl="0" indent="0" algn="l" rtl="0">
              <a:lnSpc>
                <a:spcPct val="100000"/>
              </a:lnSpc>
              <a:spcBef>
                <a:spcPts val="0"/>
              </a:spcBef>
              <a:spcAft>
                <a:spcPts val="0"/>
              </a:spcAft>
              <a:buNone/>
            </a:pPr>
            <a:r>
              <a:rPr lang="en-US" sz="1400" b="0" i="0" u="none" strike="noStrike" cap="none" dirty="0">
                <a:solidFill>
                  <a:srgbClr val="000000"/>
                </a:solidFill>
                <a:latin typeface="Arial"/>
                <a:ea typeface="Arial"/>
                <a:cs typeface="Arial"/>
                <a:sym typeface="Arial"/>
              </a:rPr>
              <a:t>The system consists of four key agents:</a:t>
            </a:r>
            <a:endParaRPr dirty="0"/>
          </a:p>
          <a:p>
            <a:pPr marL="0" marR="0" lvl="0" indent="0" algn="l" rtl="0">
              <a:lnSpc>
                <a:spcPct val="100000"/>
              </a:lnSpc>
              <a:spcBef>
                <a:spcPts val="0"/>
              </a:spcBef>
              <a:spcAft>
                <a:spcPts val="0"/>
              </a:spcAft>
              <a:buNone/>
            </a:pPr>
            <a:r>
              <a:rPr lang="en-US" sz="1400" b="1" i="0" u="none" strike="noStrike" cap="none" dirty="0">
                <a:solidFill>
                  <a:srgbClr val="000000"/>
                </a:solidFill>
                <a:latin typeface="Arial"/>
                <a:ea typeface="Arial"/>
                <a:cs typeface="Arial"/>
                <a:sym typeface="Arial"/>
              </a:rPr>
              <a:t>Nutrition Knowledge Agent</a:t>
            </a:r>
            <a:r>
              <a:rPr lang="en-US" sz="1400" b="0" i="0" u="none" strike="noStrike" cap="none" dirty="0">
                <a:solidFill>
                  <a:srgbClr val="000000"/>
                </a:solidFill>
                <a:latin typeface="Arial"/>
                <a:ea typeface="Arial"/>
                <a:cs typeface="Arial"/>
                <a:sym typeface="Arial"/>
              </a:rPr>
              <a:t> retrieves and summarizes nutritional information using RAG. </a:t>
            </a:r>
            <a:endParaRPr dirty="0"/>
          </a:p>
          <a:p>
            <a:pPr marL="0" marR="0" lvl="0" indent="0" algn="l" rtl="0">
              <a:lnSpc>
                <a:spcPct val="100000"/>
              </a:lnSpc>
              <a:spcBef>
                <a:spcPts val="0"/>
              </a:spcBef>
              <a:spcAft>
                <a:spcPts val="0"/>
              </a:spcAft>
              <a:buNone/>
            </a:pPr>
            <a:r>
              <a:rPr lang="en-US" sz="1400" b="1" i="0" u="none" strike="noStrike" cap="none" dirty="0">
                <a:solidFill>
                  <a:srgbClr val="000000"/>
                </a:solidFill>
                <a:latin typeface="Arial"/>
                <a:ea typeface="Arial"/>
                <a:cs typeface="Arial"/>
                <a:sym typeface="Arial"/>
              </a:rPr>
              <a:t>Diet Recommendation Agent</a:t>
            </a:r>
            <a:r>
              <a:rPr lang="en-US" sz="1400" b="0" i="0" u="none" strike="noStrike" cap="none" dirty="0">
                <a:solidFill>
                  <a:srgbClr val="000000"/>
                </a:solidFill>
                <a:latin typeface="Arial"/>
                <a:ea typeface="Arial"/>
                <a:cs typeface="Arial"/>
                <a:sym typeface="Arial"/>
              </a:rPr>
              <a:t> generates personalized meal plans based on user inputs such as age, health conditions, dietary preferences, and fitness goals. </a:t>
            </a:r>
            <a:endParaRPr dirty="0"/>
          </a:p>
          <a:p>
            <a:pPr marL="0" marR="0" lvl="0" indent="0" algn="l" rtl="0">
              <a:lnSpc>
                <a:spcPct val="100000"/>
              </a:lnSpc>
              <a:spcBef>
                <a:spcPts val="0"/>
              </a:spcBef>
              <a:spcAft>
                <a:spcPts val="0"/>
              </a:spcAft>
              <a:buNone/>
            </a:pPr>
            <a:r>
              <a:rPr lang="en-US" sz="1400" b="1" i="0" u="none" strike="noStrike" cap="none" dirty="0">
                <a:solidFill>
                  <a:srgbClr val="000000"/>
                </a:solidFill>
                <a:latin typeface="Arial"/>
                <a:ea typeface="Arial"/>
                <a:cs typeface="Arial"/>
                <a:sym typeface="Arial"/>
              </a:rPr>
              <a:t>Health Advisory Agent</a:t>
            </a:r>
            <a:r>
              <a:rPr lang="en-US" sz="1400" b="0" i="0" u="none" strike="noStrike" cap="none" dirty="0">
                <a:solidFill>
                  <a:srgbClr val="000000"/>
                </a:solidFill>
                <a:latin typeface="Arial"/>
                <a:ea typeface="Arial"/>
                <a:cs typeface="Arial"/>
                <a:sym typeface="Arial"/>
              </a:rPr>
              <a:t> provides preventive health suggestions, including disease-specific diets (e.g., diabetes-friendly or heart-healthy plans). </a:t>
            </a:r>
            <a:endParaRPr dirty="0"/>
          </a:p>
          <a:p>
            <a:pPr marL="0" marR="0" lvl="0" indent="0" algn="l" rtl="0">
              <a:lnSpc>
                <a:spcPct val="100000"/>
              </a:lnSpc>
              <a:spcBef>
                <a:spcPts val="0"/>
              </a:spcBef>
              <a:spcAft>
                <a:spcPts val="0"/>
              </a:spcAft>
              <a:buNone/>
            </a:pPr>
            <a:r>
              <a:rPr lang="en-US" sz="1400" b="1" i="0" u="none" strike="noStrike" cap="none" dirty="0">
                <a:solidFill>
                  <a:srgbClr val="000000"/>
                </a:solidFill>
                <a:latin typeface="Arial"/>
                <a:ea typeface="Arial"/>
                <a:cs typeface="Arial"/>
                <a:sym typeface="Arial"/>
              </a:rPr>
              <a:t>Food Log &amp; Feedback Agent</a:t>
            </a:r>
            <a:r>
              <a:rPr lang="en-US" sz="1400" b="0" i="0" u="none" strike="noStrike" cap="none" dirty="0">
                <a:solidFill>
                  <a:srgbClr val="000000"/>
                </a:solidFill>
                <a:latin typeface="Arial"/>
                <a:ea typeface="Arial"/>
                <a:cs typeface="Arial"/>
                <a:sym typeface="Arial"/>
              </a:rPr>
              <a:t> allows users to log meals via text, voice, or images and delivers instant nutritional analysis with actionable feedback. </a:t>
            </a:r>
            <a:endParaRPr dirty="0"/>
          </a:p>
          <a:p>
            <a:pPr marL="0" marR="0" lvl="0" indent="0" algn="l" rtl="0">
              <a:lnSpc>
                <a:spcPct val="100000"/>
              </a:lnSpc>
              <a:spcBef>
                <a:spcPts val="0"/>
              </a:spcBef>
              <a:spcAft>
                <a:spcPts val="0"/>
              </a:spcAft>
              <a:buNone/>
            </a:pPr>
            <a:r>
              <a:rPr lang="en-US" sz="1400" b="0" i="0" u="none" strike="noStrike" cap="none" dirty="0">
                <a:solidFill>
                  <a:srgbClr val="000000"/>
                </a:solidFill>
                <a:latin typeface="Arial"/>
                <a:ea typeface="Arial"/>
                <a:cs typeface="Arial"/>
                <a:sym typeface="Arial"/>
              </a:rPr>
              <a:t>The solution includes a </a:t>
            </a:r>
            <a:r>
              <a:rPr lang="en-US" sz="1400" b="1" i="0" u="none" strike="noStrike" cap="none" dirty="0">
                <a:solidFill>
                  <a:srgbClr val="000000"/>
                </a:solidFill>
                <a:latin typeface="Arial"/>
                <a:ea typeface="Arial"/>
                <a:cs typeface="Arial"/>
                <a:sym typeface="Arial"/>
              </a:rPr>
              <a:t>user-friendly dashboard</a:t>
            </a:r>
            <a:r>
              <a:rPr lang="en-US" sz="1400" b="0" i="0" u="none" strike="noStrike" cap="none" dirty="0">
                <a:solidFill>
                  <a:srgbClr val="000000"/>
                </a:solidFill>
                <a:latin typeface="Arial"/>
                <a:ea typeface="Arial"/>
                <a:cs typeface="Arial"/>
                <a:sym typeface="Arial"/>
              </a:rPr>
              <a:t> (built with </a:t>
            </a:r>
            <a:r>
              <a:rPr lang="en-US" sz="1400" b="0" i="0" u="none" strike="noStrike" cap="none" dirty="0" err="1">
                <a:solidFill>
                  <a:srgbClr val="000000"/>
                </a:solidFill>
                <a:latin typeface="Arial"/>
                <a:ea typeface="Arial"/>
                <a:cs typeface="Arial"/>
                <a:sym typeface="Arial"/>
              </a:rPr>
              <a:t>Streamlit</a:t>
            </a:r>
            <a:r>
              <a:rPr lang="en-US" sz="1400" b="0" i="0" u="none" strike="noStrike" cap="none" dirty="0">
                <a:solidFill>
                  <a:srgbClr val="000000"/>
                </a:solidFill>
                <a:latin typeface="Arial"/>
                <a:ea typeface="Arial"/>
                <a:cs typeface="Arial"/>
                <a:sym typeface="Arial"/>
              </a:rPr>
              <a:t> or React) that visualizes daily and weekly nutrient intake, highlights deficiencies, and tracks progress toward health goals.</a:t>
            </a:r>
            <a:endParaRPr dirty="0"/>
          </a:p>
          <a:p>
            <a:pPr marL="0" marR="0" lvl="0" indent="0" algn="l" rtl="0">
              <a:lnSpc>
                <a:spcPct val="100000"/>
              </a:lnSpc>
              <a:spcBef>
                <a:spcPts val="0"/>
              </a:spcBef>
              <a:spcAft>
                <a:spcPts val="0"/>
              </a:spcAft>
              <a:buNone/>
            </a:pPr>
            <a:r>
              <a:rPr lang="en-US" sz="1400" b="0" i="0" u="none" strike="noStrike" cap="none" dirty="0" err="1">
                <a:solidFill>
                  <a:srgbClr val="000000"/>
                </a:solidFill>
                <a:latin typeface="Arial"/>
                <a:ea typeface="Arial"/>
                <a:cs typeface="Arial"/>
                <a:sym typeface="Arial"/>
              </a:rPr>
              <a:t>LangFlow</a:t>
            </a:r>
            <a:r>
              <a:rPr lang="en-US" sz="1400" b="0" i="0" u="none" strike="noStrike" cap="none" dirty="0">
                <a:solidFill>
                  <a:srgbClr val="000000"/>
                </a:solidFill>
                <a:latin typeface="Arial"/>
                <a:ea typeface="Arial"/>
                <a:cs typeface="Arial"/>
                <a:sym typeface="Arial"/>
              </a:rPr>
              <a:t> is used to orchestrate agent workflows, while watsonx.ai ensures scalable model deployment, embeddings, and AI governance. Granite models power reasoning, summarization, and personalization.</a:t>
            </a:r>
            <a:endParaRPr dirty="0"/>
          </a:p>
          <a:p>
            <a:pPr marL="0" marR="0" lvl="0" indent="0" algn="l" rtl="0">
              <a:lnSpc>
                <a:spcPct val="100000"/>
              </a:lnSpc>
              <a:spcBef>
                <a:spcPts val="0"/>
              </a:spcBef>
              <a:spcAft>
                <a:spcPts val="0"/>
              </a:spcAft>
              <a:buNone/>
            </a:pPr>
            <a:r>
              <a:rPr lang="en-US" sz="1400" b="0" i="0" u="none" strike="noStrike" cap="none" dirty="0">
                <a:solidFill>
                  <a:srgbClr val="000000"/>
                </a:solidFill>
                <a:latin typeface="Arial"/>
                <a:ea typeface="Arial"/>
                <a:cs typeface="Arial"/>
                <a:sym typeface="Arial"/>
              </a:rPr>
              <a:t>Overall, this solution delivers an </a:t>
            </a:r>
            <a:r>
              <a:rPr lang="en-US" sz="1400" b="1" i="0" u="none" strike="noStrike" cap="none" dirty="0">
                <a:solidFill>
                  <a:srgbClr val="000000"/>
                </a:solidFill>
                <a:latin typeface="Arial"/>
                <a:ea typeface="Arial"/>
                <a:cs typeface="Arial"/>
                <a:sym typeface="Arial"/>
              </a:rPr>
              <a:t>end-to-end intelligent nutrition assistant</a:t>
            </a:r>
            <a:r>
              <a:rPr lang="en-US" sz="1400" b="0" i="0" u="none" strike="noStrike" cap="none" dirty="0">
                <a:solidFill>
                  <a:srgbClr val="000000"/>
                </a:solidFill>
                <a:latin typeface="Arial"/>
                <a:ea typeface="Arial"/>
                <a:cs typeface="Arial"/>
                <a:sym typeface="Arial"/>
              </a:rPr>
              <a:t> that promotes healthier lifestyles through personalized insights, real-time feedback, and preventive healthcare recommendations.</a:t>
            </a:r>
            <a:endParaRPr dirty="0"/>
          </a:p>
          <a:p>
            <a:pPr marL="0" marR="0" lvl="0" indent="0" algn="l" rtl="0">
              <a:lnSpc>
                <a:spcPct val="100000"/>
              </a:lnSpc>
              <a:spcBef>
                <a:spcPts val="0"/>
              </a:spcBef>
              <a:spcAft>
                <a:spcPts val="0"/>
              </a:spcAft>
              <a:buNone/>
            </a:pPr>
            <a:endParaRPr sz="1400" b="0" i="0" u="none" strike="noStrike" cap="none" dirty="0">
              <a:solidFill>
                <a:srgbClr val="000000"/>
              </a:solidFill>
              <a:latin typeface="Arial"/>
              <a:ea typeface="Arial"/>
              <a:cs typeface="Arial"/>
              <a:sym typeface="Arial"/>
            </a:endParaRPr>
          </a:p>
          <a:p>
            <a:pPr marL="0" marR="0" lvl="0" indent="0" algn="l" rtl="0">
              <a:lnSpc>
                <a:spcPct val="100000"/>
              </a:lnSpc>
              <a:spcBef>
                <a:spcPts val="0"/>
              </a:spcBef>
              <a:spcAft>
                <a:spcPts val="0"/>
              </a:spcAft>
              <a:buNone/>
            </a:pPr>
            <a:endParaRPr sz="1400" b="0" i="0" u="none" strike="noStrike" cap="none" dirty="0">
              <a:solidFill>
                <a:srgbClr val="000000"/>
              </a:solidFill>
              <a:latin typeface="Arial"/>
              <a:ea typeface="Arial"/>
              <a:cs typeface="Arial"/>
              <a:sym typeface="Arial"/>
            </a:endParaRPr>
          </a:p>
        </p:txBody>
      </p:sp>
      <p:sp>
        <p:nvSpPr>
          <p:cNvPr id="102" name="Google Shape;102;p35"/>
          <p:cNvSpPr txBox="1"/>
          <p:nvPr/>
        </p:nvSpPr>
        <p:spPr>
          <a:xfrm>
            <a:off x="576072" y="704088"/>
            <a:ext cx="7214616" cy="461665"/>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2400" b="1" i="0" u="none" strike="noStrike" cap="none">
                <a:solidFill>
                  <a:srgbClr val="000000"/>
                </a:solidFill>
                <a:latin typeface="Arial"/>
                <a:ea typeface="Arial"/>
                <a:cs typeface="Arial"/>
                <a:sym typeface="Arial"/>
              </a:rPr>
              <a:t>Proposed Solution -</a:t>
            </a:r>
            <a:endParaRPr sz="2400" b="1" i="0" u="none" strike="noStrike" cap="none">
              <a:solidFill>
                <a:srgbClr val="000000"/>
              </a:solidFill>
              <a:latin typeface="Arial"/>
              <a:ea typeface="Arial"/>
              <a:cs typeface="Arial"/>
              <a:sym typeface="Aria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06"/>
        <p:cNvGrpSpPr/>
        <p:nvPr/>
      </p:nvGrpSpPr>
      <p:grpSpPr>
        <a:xfrm>
          <a:off x="0" y="0"/>
          <a:ext cx="0" cy="0"/>
          <a:chOff x="0" y="0"/>
          <a:chExt cx="0" cy="0"/>
        </a:xfrm>
      </p:grpSpPr>
      <p:sp>
        <p:nvSpPr>
          <p:cNvPr id="107" name="Google Shape;107;p36"/>
          <p:cNvSpPr txBox="1"/>
          <p:nvPr/>
        </p:nvSpPr>
        <p:spPr>
          <a:xfrm>
            <a:off x="777240" y="484632"/>
            <a:ext cx="7123176" cy="461665"/>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2400" b="1" i="0" u="none" strike="noStrike" cap="none">
                <a:solidFill>
                  <a:srgbClr val="000000"/>
                </a:solidFill>
                <a:latin typeface="Arial"/>
                <a:ea typeface="Arial"/>
                <a:cs typeface="Arial"/>
                <a:sym typeface="Arial"/>
              </a:rPr>
              <a:t>Technology Used</a:t>
            </a:r>
            <a:endParaRPr sz="2400" b="1" i="0" u="none" strike="noStrike" cap="none">
              <a:solidFill>
                <a:srgbClr val="000000"/>
              </a:solidFill>
              <a:latin typeface="Arial"/>
              <a:ea typeface="Arial"/>
              <a:cs typeface="Arial"/>
              <a:sym typeface="Arial"/>
            </a:endParaRPr>
          </a:p>
        </p:txBody>
      </p:sp>
      <p:sp>
        <p:nvSpPr>
          <p:cNvPr id="108" name="Google Shape;108;p36"/>
          <p:cNvSpPr txBox="1"/>
          <p:nvPr/>
        </p:nvSpPr>
        <p:spPr>
          <a:xfrm>
            <a:off x="777240" y="1207008"/>
            <a:ext cx="10515600" cy="5509200"/>
          </a:xfrm>
          <a:prstGeom prst="rect">
            <a:avLst/>
          </a:prstGeom>
          <a:noFill/>
          <a:ln>
            <a:noFill/>
          </a:ln>
        </p:spPr>
        <p:txBody>
          <a:bodyPr spcFirstLastPara="1" wrap="square" lIns="91425" tIns="45700" rIns="91425" bIns="45700" anchor="t" anchorCtr="0">
            <a:spAutoFit/>
          </a:bodyPr>
          <a:lstStyle/>
          <a:p>
            <a:pPr marL="285750" marR="0" lvl="0" indent="-285750" algn="l" rtl="0">
              <a:lnSpc>
                <a:spcPct val="100000"/>
              </a:lnSpc>
              <a:spcBef>
                <a:spcPts val="0"/>
              </a:spcBef>
              <a:spcAft>
                <a:spcPts val="0"/>
              </a:spcAft>
              <a:buClr>
                <a:srgbClr val="000000"/>
              </a:buClr>
              <a:buSzPts val="1800"/>
              <a:buFont typeface="Arial"/>
              <a:buChar char="•"/>
            </a:pPr>
            <a:r>
              <a:rPr lang="en-US" sz="1800" b="1" i="0" u="none" strike="noStrike" cap="none">
                <a:solidFill>
                  <a:srgbClr val="000000"/>
                </a:solidFill>
                <a:latin typeface="Arial"/>
                <a:ea typeface="Arial"/>
                <a:cs typeface="Arial"/>
                <a:sym typeface="Arial"/>
              </a:rPr>
              <a:t>Langflow platform </a:t>
            </a:r>
            <a:r>
              <a:rPr lang="en-US" sz="1800" b="0" i="0" u="none" strike="noStrike" cap="none">
                <a:solidFill>
                  <a:srgbClr val="000000"/>
                </a:solidFill>
                <a:latin typeface="Arial"/>
                <a:ea typeface="Arial"/>
                <a:cs typeface="Arial"/>
                <a:sym typeface="Arial"/>
              </a:rPr>
              <a:t>-For designing and orchestrating multi-agent workflows visually</a:t>
            </a:r>
            <a:endParaRPr/>
          </a:p>
          <a:p>
            <a:pPr marL="285750" marR="0" lvl="0" indent="-171450" algn="l" rtl="0">
              <a:lnSpc>
                <a:spcPct val="100000"/>
              </a:lnSpc>
              <a:spcBef>
                <a:spcPts val="0"/>
              </a:spcBef>
              <a:spcAft>
                <a:spcPts val="0"/>
              </a:spcAft>
              <a:buClr>
                <a:srgbClr val="000000"/>
              </a:buClr>
              <a:buSzPts val="1800"/>
              <a:buFont typeface="Arial"/>
              <a:buNone/>
            </a:pPr>
            <a:endParaRPr sz="1800" b="0" i="0" u="none" strike="noStrike" cap="none">
              <a:solidFill>
                <a:srgbClr val="000000"/>
              </a:solidFill>
              <a:latin typeface="Arial"/>
              <a:ea typeface="Arial"/>
              <a:cs typeface="Arial"/>
              <a:sym typeface="Arial"/>
            </a:endParaRPr>
          </a:p>
          <a:p>
            <a:pPr marL="285750" marR="0" lvl="0" indent="-171450" algn="l" rtl="0">
              <a:lnSpc>
                <a:spcPct val="100000"/>
              </a:lnSpc>
              <a:spcBef>
                <a:spcPts val="0"/>
              </a:spcBef>
              <a:spcAft>
                <a:spcPts val="0"/>
              </a:spcAft>
              <a:buClr>
                <a:srgbClr val="000000"/>
              </a:buClr>
              <a:buSzPts val="1800"/>
              <a:buFont typeface="Arial"/>
              <a:buNone/>
            </a:pPr>
            <a:endParaRPr sz="1800" b="0" i="0" u="none" strike="noStrike" cap="none">
              <a:solidFill>
                <a:srgbClr val="000000"/>
              </a:solidFill>
              <a:latin typeface="Arial"/>
              <a:ea typeface="Arial"/>
              <a:cs typeface="Arial"/>
              <a:sym typeface="Arial"/>
            </a:endParaRPr>
          </a:p>
          <a:p>
            <a:pPr marL="285750" marR="0" lvl="0" indent="-285750" algn="l" rtl="0">
              <a:lnSpc>
                <a:spcPct val="100000"/>
              </a:lnSpc>
              <a:spcBef>
                <a:spcPts val="0"/>
              </a:spcBef>
              <a:spcAft>
                <a:spcPts val="0"/>
              </a:spcAft>
              <a:buClr>
                <a:srgbClr val="000000"/>
              </a:buClr>
              <a:buSzPts val="1800"/>
              <a:buFont typeface="Arial"/>
              <a:buChar char="•"/>
            </a:pPr>
            <a:r>
              <a:rPr lang="en-US" sz="1800" b="1" i="0" u="none" strike="noStrike" cap="none">
                <a:solidFill>
                  <a:srgbClr val="000000"/>
                </a:solidFill>
                <a:latin typeface="Arial"/>
                <a:ea typeface="Arial"/>
                <a:cs typeface="Arial"/>
                <a:sym typeface="Arial"/>
              </a:rPr>
              <a:t>IBM Grainte model </a:t>
            </a:r>
            <a:r>
              <a:rPr lang="en-US" sz="1800" b="0" i="0" u="none" strike="noStrike" cap="none">
                <a:solidFill>
                  <a:srgbClr val="000000"/>
                </a:solidFill>
                <a:latin typeface="Arial"/>
                <a:ea typeface="Arial"/>
                <a:cs typeface="Arial"/>
                <a:sym typeface="Arial"/>
              </a:rPr>
              <a:t>-  for eg – ibm-granite-3-2-8b – For natural language understanding, reasoning, and personalization</a:t>
            </a:r>
            <a:endParaRPr/>
          </a:p>
          <a:p>
            <a:pPr marL="285750" marR="0" lvl="0" indent="-171450" algn="l" rtl="0">
              <a:lnSpc>
                <a:spcPct val="100000"/>
              </a:lnSpc>
              <a:spcBef>
                <a:spcPts val="0"/>
              </a:spcBef>
              <a:spcAft>
                <a:spcPts val="0"/>
              </a:spcAft>
              <a:buClr>
                <a:srgbClr val="000000"/>
              </a:buClr>
              <a:buSzPts val="1800"/>
              <a:buFont typeface="Arial"/>
              <a:buNone/>
            </a:pPr>
            <a:endParaRPr sz="1800" b="0" i="0" u="none" strike="noStrike" cap="none">
              <a:solidFill>
                <a:srgbClr val="000000"/>
              </a:solidFill>
              <a:latin typeface="Arial"/>
              <a:ea typeface="Arial"/>
              <a:cs typeface="Arial"/>
              <a:sym typeface="Arial"/>
            </a:endParaRPr>
          </a:p>
          <a:p>
            <a:pPr marL="285750" marR="0" lvl="0" indent="-285750" algn="l" rtl="0">
              <a:lnSpc>
                <a:spcPct val="100000"/>
              </a:lnSpc>
              <a:spcBef>
                <a:spcPts val="0"/>
              </a:spcBef>
              <a:spcAft>
                <a:spcPts val="0"/>
              </a:spcAft>
              <a:buClr>
                <a:srgbClr val="000000"/>
              </a:buClr>
              <a:buSzPts val="1800"/>
              <a:buFont typeface="Arial"/>
              <a:buChar char="•"/>
            </a:pPr>
            <a:r>
              <a:rPr lang="en-US" sz="1800" b="1" i="0" u="none" strike="noStrike" cap="none">
                <a:solidFill>
                  <a:srgbClr val="000000"/>
                </a:solidFill>
                <a:latin typeface="Arial"/>
                <a:ea typeface="Arial"/>
                <a:cs typeface="Arial"/>
                <a:sym typeface="Arial"/>
              </a:rPr>
              <a:t>IBM Cloud </a:t>
            </a:r>
            <a:r>
              <a:rPr lang="en-US" sz="1800" b="0" i="0" u="none" strike="noStrike" cap="none">
                <a:solidFill>
                  <a:srgbClr val="000000"/>
                </a:solidFill>
                <a:latin typeface="Arial"/>
                <a:ea typeface="Arial"/>
                <a:cs typeface="Arial"/>
                <a:sym typeface="Arial"/>
              </a:rPr>
              <a:t>– It provides the infrastructure to build, deploy, and scale the Nutrition Agent efficiently. IBM Cloud enables a </a:t>
            </a:r>
            <a:r>
              <a:rPr lang="en-US" sz="1800" b="1" i="0" u="none" strike="noStrike" cap="none">
                <a:solidFill>
                  <a:srgbClr val="000000"/>
                </a:solidFill>
                <a:latin typeface="Arial"/>
                <a:ea typeface="Arial"/>
                <a:cs typeface="Arial"/>
                <a:sym typeface="Arial"/>
              </a:rPr>
              <a:t>reliable, secure, and scalable environment</a:t>
            </a:r>
            <a:r>
              <a:rPr lang="en-US" sz="1800" b="0" i="0" u="none" strike="noStrike" cap="none">
                <a:solidFill>
                  <a:srgbClr val="000000"/>
                </a:solidFill>
                <a:latin typeface="Arial"/>
                <a:ea typeface="Arial"/>
                <a:cs typeface="Arial"/>
                <a:sym typeface="Arial"/>
              </a:rPr>
              <a:t> for deploying the Nutrition Agent.</a:t>
            </a:r>
            <a:endParaRPr/>
          </a:p>
          <a:p>
            <a:pPr marL="285750" marR="0" lvl="0" indent="-171450" algn="l" rtl="0">
              <a:lnSpc>
                <a:spcPct val="100000"/>
              </a:lnSpc>
              <a:spcBef>
                <a:spcPts val="0"/>
              </a:spcBef>
              <a:spcAft>
                <a:spcPts val="0"/>
              </a:spcAft>
              <a:buClr>
                <a:srgbClr val="000000"/>
              </a:buClr>
              <a:buSzPts val="1800"/>
              <a:buFont typeface="Arial"/>
              <a:buNone/>
            </a:pPr>
            <a:endParaRPr sz="1800" b="0" i="0" u="none" strike="noStrike" cap="none">
              <a:solidFill>
                <a:srgbClr val="000000"/>
              </a:solidFill>
              <a:latin typeface="Arial"/>
              <a:ea typeface="Arial"/>
              <a:cs typeface="Arial"/>
              <a:sym typeface="Arial"/>
            </a:endParaRPr>
          </a:p>
          <a:p>
            <a:pPr marL="285750" marR="0" lvl="0" indent="-285750" algn="l" rtl="0">
              <a:lnSpc>
                <a:spcPct val="100000"/>
              </a:lnSpc>
              <a:spcBef>
                <a:spcPts val="0"/>
              </a:spcBef>
              <a:spcAft>
                <a:spcPts val="0"/>
              </a:spcAft>
              <a:buClr>
                <a:srgbClr val="000000"/>
              </a:buClr>
              <a:buSzPts val="1800"/>
              <a:buFont typeface="Arial"/>
              <a:buChar char="•"/>
            </a:pPr>
            <a:r>
              <a:rPr lang="en-US" sz="1800" b="1" i="0" u="none" strike="noStrike" cap="none">
                <a:solidFill>
                  <a:srgbClr val="000000"/>
                </a:solidFill>
                <a:latin typeface="Arial"/>
                <a:ea typeface="Arial"/>
                <a:cs typeface="Arial"/>
                <a:sym typeface="Arial"/>
              </a:rPr>
              <a:t>RAG– </a:t>
            </a:r>
            <a:r>
              <a:rPr lang="en-US" sz="1800" b="0" i="0" u="none" strike="noStrike" cap="none">
                <a:solidFill>
                  <a:srgbClr val="000000"/>
                </a:solidFill>
                <a:latin typeface="Arial"/>
                <a:ea typeface="Arial"/>
                <a:cs typeface="Arial"/>
                <a:sym typeface="Arial"/>
              </a:rPr>
              <a:t>RAG to </a:t>
            </a:r>
            <a:r>
              <a:rPr lang="en-US" sz="1800" b="1" i="0" u="none" strike="noStrike" cap="none">
                <a:solidFill>
                  <a:srgbClr val="000000"/>
                </a:solidFill>
                <a:latin typeface="Arial"/>
                <a:ea typeface="Arial"/>
                <a:cs typeface="Arial"/>
                <a:sym typeface="Arial"/>
              </a:rPr>
              <a:t>fetch real data first, then generate intelligent answers</a:t>
            </a:r>
            <a:r>
              <a:rPr lang="en-US" sz="1800" b="0" i="0" u="none" strike="noStrike" cap="none">
                <a:solidFill>
                  <a:srgbClr val="000000"/>
                </a:solidFill>
                <a:latin typeface="Arial"/>
                <a:ea typeface="Arial"/>
                <a:cs typeface="Arial"/>
                <a:sym typeface="Arial"/>
              </a:rPr>
              <a:t>, making the Nutrition Agent more trustworthy and effective.</a:t>
            </a:r>
            <a:endParaRPr/>
          </a:p>
          <a:p>
            <a:pPr marL="285750" marR="0" lvl="0" indent="-171450" algn="l" rtl="0">
              <a:lnSpc>
                <a:spcPct val="100000"/>
              </a:lnSpc>
              <a:spcBef>
                <a:spcPts val="0"/>
              </a:spcBef>
              <a:spcAft>
                <a:spcPts val="0"/>
              </a:spcAft>
              <a:buClr>
                <a:srgbClr val="000000"/>
              </a:buClr>
              <a:buSzPts val="1800"/>
              <a:buFont typeface="Arial"/>
              <a:buNone/>
            </a:pPr>
            <a:endParaRPr sz="1800" b="0" i="0" u="none" strike="noStrike" cap="none">
              <a:solidFill>
                <a:srgbClr val="000000"/>
              </a:solidFill>
              <a:latin typeface="Arial"/>
              <a:ea typeface="Arial"/>
              <a:cs typeface="Arial"/>
              <a:sym typeface="Arial"/>
            </a:endParaRPr>
          </a:p>
          <a:p>
            <a:pPr marL="285750" marR="0" lvl="0" indent="-285750" algn="l" rtl="0">
              <a:lnSpc>
                <a:spcPct val="100000"/>
              </a:lnSpc>
              <a:spcBef>
                <a:spcPts val="0"/>
              </a:spcBef>
              <a:spcAft>
                <a:spcPts val="0"/>
              </a:spcAft>
              <a:buClr>
                <a:srgbClr val="000000"/>
              </a:buClr>
              <a:buSzPts val="1800"/>
              <a:buFont typeface="Arial"/>
              <a:buChar char="•"/>
            </a:pPr>
            <a:r>
              <a:rPr lang="en-US" sz="1800" b="1" i="0" u="none" strike="noStrike" cap="none">
                <a:solidFill>
                  <a:srgbClr val="000000"/>
                </a:solidFill>
                <a:latin typeface="Arial"/>
                <a:ea typeface="Arial"/>
                <a:cs typeface="Arial"/>
                <a:sym typeface="Arial"/>
              </a:rPr>
              <a:t>IBM Watsonx.ai - </a:t>
            </a:r>
            <a:r>
              <a:rPr lang="en-US" sz="1800" b="0" i="0" u="none" strike="noStrike" cap="none">
                <a:solidFill>
                  <a:srgbClr val="000000"/>
                </a:solidFill>
                <a:latin typeface="Arial"/>
                <a:ea typeface="Arial"/>
                <a:cs typeface="Arial"/>
                <a:sym typeface="Arial"/>
              </a:rPr>
              <a:t>For model deployment, embeddings, and AI governance</a:t>
            </a:r>
            <a:endParaRPr/>
          </a:p>
          <a:p>
            <a:pPr marL="285750" marR="0" lvl="0" indent="-171450" algn="l" rtl="0">
              <a:lnSpc>
                <a:spcPct val="100000"/>
              </a:lnSpc>
              <a:spcBef>
                <a:spcPts val="0"/>
              </a:spcBef>
              <a:spcAft>
                <a:spcPts val="0"/>
              </a:spcAft>
              <a:buClr>
                <a:srgbClr val="000000"/>
              </a:buClr>
              <a:buSzPts val="1800"/>
              <a:buFont typeface="Arial"/>
              <a:buNone/>
            </a:pPr>
            <a:endParaRPr sz="1800" b="0" i="0" u="none" strike="noStrike" cap="none">
              <a:solidFill>
                <a:srgbClr val="000000"/>
              </a:solidFill>
              <a:latin typeface="Arial"/>
              <a:ea typeface="Arial"/>
              <a:cs typeface="Arial"/>
              <a:sym typeface="Arial"/>
            </a:endParaRPr>
          </a:p>
          <a:p>
            <a:pPr marL="285750" marR="0" lvl="0" indent="-285750" algn="l" rtl="0">
              <a:lnSpc>
                <a:spcPct val="100000"/>
              </a:lnSpc>
              <a:spcBef>
                <a:spcPts val="0"/>
              </a:spcBef>
              <a:spcAft>
                <a:spcPts val="0"/>
              </a:spcAft>
              <a:buClr>
                <a:srgbClr val="000000"/>
              </a:buClr>
              <a:buSzPts val="1800"/>
              <a:buFont typeface="Arial"/>
              <a:buChar char="•"/>
            </a:pPr>
            <a:r>
              <a:rPr lang="en-US" sz="1800" b="1" i="0" u="none" strike="noStrike" cap="none">
                <a:solidFill>
                  <a:srgbClr val="000000"/>
                </a:solidFill>
                <a:latin typeface="Arial"/>
                <a:ea typeface="Arial"/>
                <a:cs typeface="Arial"/>
                <a:sym typeface="Arial"/>
              </a:rPr>
              <a:t>Vector Database </a:t>
            </a:r>
            <a:r>
              <a:rPr lang="en-US" sz="1800" b="0" i="0" u="none" strike="noStrike" cap="none">
                <a:solidFill>
                  <a:srgbClr val="000000"/>
                </a:solidFill>
                <a:latin typeface="Arial"/>
                <a:ea typeface="Arial"/>
                <a:cs typeface="Arial"/>
                <a:sym typeface="Arial"/>
              </a:rPr>
              <a:t>(FAISS/Chroma) – For RAG-based nutritional data retrieval</a:t>
            </a:r>
            <a:endParaRPr sz="1800" b="0" i="0" u="none" strike="noStrike" cap="none">
              <a:solidFill>
                <a:srgbClr val="000000"/>
              </a:solidFill>
              <a:latin typeface="Arial"/>
              <a:ea typeface="Arial"/>
              <a:cs typeface="Arial"/>
              <a:sym typeface="Arial"/>
            </a:endParaRPr>
          </a:p>
          <a:p>
            <a:pPr marL="285750" marR="0" lvl="0" indent="-171450" algn="l" rtl="0">
              <a:lnSpc>
                <a:spcPct val="100000"/>
              </a:lnSpc>
              <a:spcBef>
                <a:spcPts val="0"/>
              </a:spcBef>
              <a:spcAft>
                <a:spcPts val="0"/>
              </a:spcAft>
              <a:buClr>
                <a:srgbClr val="000000"/>
              </a:buClr>
              <a:buSzPts val="1800"/>
              <a:buFont typeface="Arial"/>
              <a:buNone/>
            </a:pPr>
            <a:endParaRPr sz="1800" b="0" i="0" u="none" strike="noStrike" cap="none">
              <a:solidFill>
                <a:srgbClr val="000000"/>
              </a:solidFill>
              <a:latin typeface="Arial"/>
              <a:ea typeface="Arial"/>
              <a:cs typeface="Arial"/>
              <a:sym typeface="Arial"/>
            </a:endParaRPr>
          </a:p>
          <a:p>
            <a:pPr marL="285750" marR="0" lvl="0" indent="-171450" algn="l" rtl="0">
              <a:lnSpc>
                <a:spcPct val="100000"/>
              </a:lnSpc>
              <a:spcBef>
                <a:spcPts val="0"/>
              </a:spcBef>
              <a:spcAft>
                <a:spcPts val="0"/>
              </a:spcAft>
              <a:buClr>
                <a:srgbClr val="000000"/>
              </a:buClr>
              <a:buSzPts val="1800"/>
              <a:buFont typeface="Arial"/>
              <a:buNone/>
            </a:pPr>
            <a:endParaRPr sz="1800" b="0" i="0" u="none" strike="noStrike" cap="none">
              <a:solidFill>
                <a:srgbClr val="000000"/>
              </a:solidFill>
              <a:latin typeface="Arial"/>
              <a:ea typeface="Arial"/>
              <a:cs typeface="Arial"/>
              <a:sym typeface="Arial"/>
            </a:endParaRPr>
          </a:p>
          <a:p>
            <a:pPr marL="0" marR="0" lvl="0" indent="0" algn="l"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a:p>
            <a:pPr marL="0" marR="0" lvl="0" indent="0" algn="l"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2"/>
        <p:cNvGrpSpPr/>
        <p:nvPr/>
      </p:nvGrpSpPr>
      <p:grpSpPr>
        <a:xfrm>
          <a:off x="0" y="0"/>
          <a:ext cx="0" cy="0"/>
          <a:chOff x="0" y="0"/>
          <a:chExt cx="0" cy="0"/>
        </a:xfrm>
      </p:grpSpPr>
      <p:sp>
        <p:nvSpPr>
          <p:cNvPr id="113" name="Google Shape;113;p37"/>
          <p:cNvSpPr/>
          <p:nvPr/>
        </p:nvSpPr>
        <p:spPr>
          <a:xfrm>
            <a:off x="537590" y="323239"/>
            <a:ext cx="5908929" cy="448508"/>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51D3A"/>
              </a:buClr>
              <a:buSzPts val="3500"/>
              <a:buFont typeface="Times New Roman"/>
              <a:buNone/>
            </a:pPr>
            <a:r>
              <a:rPr lang="en-US" sz="2400" b="1" i="0" u="none" strike="noStrike" cap="none">
                <a:solidFill>
                  <a:srgbClr val="000000"/>
                </a:solidFill>
                <a:latin typeface="Arial"/>
                <a:ea typeface="Arial"/>
                <a:cs typeface="Arial"/>
                <a:sym typeface="Arial"/>
              </a:rPr>
              <a:t>Langflow</a:t>
            </a:r>
            <a:r>
              <a:rPr lang="en-US" sz="3500" b="1" i="0" u="none" strike="noStrike" cap="none">
                <a:solidFill>
                  <a:srgbClr val="051D3A"/>
                </a:solidFill>
                <a:latin typeface="Times New Roman"/>
                <a:ea typeface="Times New Roman"/>
                <a:cs typeface="Times New Roman"/>
                <a:sym typeface="Times New Roman"/>
              </a:rPr>
              <a:t> </a:t>
            </a:r>
            <a:r>
              <a:rPr lang="en-US" sz="2400" b="1" i="0" u="none" strike="noStrike" cap="none">
                <a:solidFill>
                  <a:srgbClr val="000000"/>
                </a:solidFill>
                <a:latin typeface="Arial"/>
                <a:ea typeface="Arial"/>
                <a:cs typeface="Arial"/>
                <a:sym typeface="Arial"/>
              </a:rPr>
              <a:t>component Used -</a:t>
            </a:r>
            <a:endParaRPr sz="2400" b="1" i="0" u="none" strike="noStrike" cap="none">
              <a:solidFill>
                <a:srgbClr val="000000"/>
              </a:solidFill>
              <a:latin typeface="Arial"/>
              <a:ea typeface="Arial"/>
              <a:cs typeface="Arial"/>
              <a:sym typeface="Arial"/>
            </a:endParaRPr>
          </a:p>
        </p:txBody>
      </p:sp>
      <p:sp>
        <p:nvSpPr>
          <p:cNvPr id="114" name="Google Shape;114;p37"/>
          <p:cNvSpPr/>
          <p:nvPr/>
        </p:nvSpPr>
        <p:spPr>
          <a:xfrm>
            <a:off x="2264331" y="6784578"/>
            <a:ext cx="2140744"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15" name="Google Shape;115;p37"/>
          <p:cNvSpPr/>
          <p:nvPr/>
        </p:nvSpPr>
        <p:spPr>
          <a:xfrm>
            <a:off x="1782604"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16" name="Google Shape;116;p37"/>
          <p:cNvSpPr/>
          <p:nvPr/>
        </p:nvSpPr>
        <p:spPr>
          <a:xfrm>
            <a:off x="5732383" y="6784578"/>
            <a:ext cx="1793915"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17" name="Google Shape;117;p37"/>
          <p:cNvSpPr/>
          <p:nvPr/>
        </p:nvSpPr>
        <p:spPr>
          <a:xfrm>
            <a:off x="5077301"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18" name="Google Shape;118;p37"/>
          <p:cNvSpPr/>
          <p:nvPr/>
        </p:nvSpPr>
        <p:spPr>
          <a:xfrm>
            <a:off x="9027081" y="6784578"/>
            <a:ext cx="1793915"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19" name="Google Shape;119;p37"/>
          <p:cNvSpPr/>
          <p:nvPr/>
        </p:nvSpPr>
        <p:spPr>
          <a:xfrm>
            <a:off x="8371999"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20" name="Google Shape;120;p37"/>
          <p:cNvSpPr txBox="1"/>
          <p:nvPr/>
        </p:nvSpPr>
        <p:spPr>
          <a:xfrm>
            <a:off x="537590" y="1335135"/>
            <a:ext cx="8823960" cy="3970277"/>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endParaRPr sz="1400" b="0" i="0" u="none" strike="noStrike" cap="none" dirty="0">
              <a:solidFill>
                <a:srgbClr val="000000"/>
              </a:solidFill>
              <a:latin typeface="Arial"/>
              <a:ea typeface="Arial"/>
              <a:cs typeface="Arial"/>
              <a:sym typeface="Arial"/>
            </a:endParaRPr>
          </a:p>
          <a:p>
            <a:pPr marL="0" marR="0" lvl="0" indent="0" algn="l" rtl="0">
              <a:lnSpc>
                <a:spcPct val="100000"/>
              </a:lnSpc>
              <a:spcBef>
                <a:spcPts val="0"/>
              </a:spcBef>
              <a:spcAft>
                <a:spcPts val="0"/>
              </a:spcAft>
              <a:buNone/>
            </a:pPr>
            <a:r>
              <a:rPr lang="en-US" sz="1400" b="1" i="0" u="none" strike="noStrike" cap="none" dirty="0">
                <a:solidFill>
                  <a:srgbClr val="000000"/>
                </a:solidFill>
                <a:latin typeface="Arial"/>
                <a:ea typeface="Arial"/>
                <a:cs typeface="Arial"/>
                <a:sym typeface="Arial"/>
              </a:rPr>
              <a:t>1) Chat Input </a:t>
            </a:r>
            <a:r>
              <a:rPr lang="en-US" sz="1400" b="0" i="0" u="none" strike="noStrike" cap="none" dirty="0">
                <a:solidFill>
                  <a:srgbClr val="000000"/>
                </a:solidFill>
                <a:latin typeface="Arial"/>
                <a:ea typeface="Arial"/>
                <a:cs typeface="Arial"/>
                <a:sym typeface="Arial"/>
              </a:rPr>
              <a:t>– Interface where users enter their queries, preferences, or meal details (text/voice/image).</a:t>
            </a:r>
            <a:endParaRPr dirty="0"/>
          </a:p>
          <a:p>
            <a:pPr marL="0" marR="0" lvl="0" indent="0" algn="l" rtl="0">
              <a:lnSpc>
                <a:spcPct val="100000"/>
              </a:lnSpc>
              <a:spcBef>
                <a:spcPts val="0"/>
              </a:spcBef>
              <a:spcAft>
                <a:spcPts val="0"/>
              </a:spcAft>
              <a:buNone/>
            </a:pPr>
            <a:endParaRPr sz="1400" b="0" i="0" u="none" strike="noStrike" cap="none" dirty="0">
              <a:solidFill>
                <a:srgbClr val="000000"/>
              </a:solidFill>
              <a:latin typeface="Arial"/>
              <a:ea typeface="Arial"/>
              <a:cs typeface="Arial"/>
              <a:sym typeface="Arial"/>
            </a:endParaRPr>
          </a:p>
          <a:p>
            <a:pPr marL="0" marR="0" lvl="0" indent="0" algn="l" rtl="0">
              <a:lnSpc>
                <a:spcPct val="100000"/>
              </a:lnSpc>
              <a:spcBef>
                <a:spcPts val="0"/>
              </a:spcBef>
              <a:spcAft>
                <a:spcPts val="0"/>
              </a:spcAft>
              <a:buNone/>
            </a:pPr>
            <a:r>
              <a:rPr lang="en-US" sz="1400" b="1" i="0" u="none" strike="noStrike" cap="none" dirty="0">
                <a:solidFill>
                  <a:srgbClr val="000000"/>
                </a:solidFill>
                <a:latin typeface="Arial"/>
                <a:ea typeface="Arial"/>
                <a:cs typeface="Arial"/>
                <a:sym typeface="Arial"/>
              </a:rPr>
              <a:t>2) IBM </a:t>
            </a:r>
            <a:r>
              <a:rPr lang="en-US" sz="1400" b="1" i="0" u="none" strike="noStrike" cap="none" dirty="0" err="1">
                <a:solidFill>
                  <a:srgbClr val="000000"/>
                </a:solidFill>
                <a:latin typeface="Arial"/>
                <a:ea typeface="Arial"/>
                <a:cs typeface="Arial"/>
                <a:sym typeface="Arial"/>
              </a:rPr>
              <a:t>watsonx</a:t>
            </a:r>
            <a:r>
              <a:rPr lang="en-US" sz="1400" b="1" i="0" u="none" strike="noStrike" cap="none" dirty="0">
                <a:solidFill>
                  <a:srgbClr val="000000"/>
                </a:solidFill>
                <a:latin typeface="Arial"/>
                <a:ea typeface="Arial"/>
                <a:cs typeface="Arial"/>
                <a:sym typeface="Arial"/>
              </a:rPr>
              <a:t> AI Agent </a:t>
            </a:r>
            <a:r>
              <a:rPr lang="en-US" sz="1400" b="0" i="0" u="none" strike="noStrike" cap="none" dirty="0">
                <a:solidFill>
                  <a:srgbClr val="000000"/>
                </a:solidFill>
                <a:latin typeface="Arial"/>
                <a:ea typeface="Arial"/>
                <a:cs typeface="Arial"/>
                <a:sym typeface="Arial"/>
              </a:rPr>
              <a:t>- Processes user input using Granite models to generate personalized nutrition insights and recommendations. </a:t>
            </a:r>
            <a:endParaRPr dirty="0"/>
          </a:p>
          <a:p>
            <a:pPr marL="0" marR="0" lvl="0" indent="0" algn="l" rtl="0">
              <a:lnSpc>
                <a:spcPct val="100000"/>
              </a:lnSpc>
              <a:spcBef>
                <a:spcPts val="0"/>
              </a:spcBef>
              <a:spcAft>
                <a:spcPts val="0"/>
              </a:spcAft>
              <a:buNone/>
            </a:pPr>
            <a:endParaRPr sz="1400" b="0" i="0" u="none" strike="noStrike" cap="none" dirty="0">
              <a:solidFill>
                <a:srgbClr val="000000"/>
              </a:solidFill>
              <a:latin typeface="Arial"/>
              <a:ea typeface="Arial"/>
              <a:cs typeface="Arial"/>
              <a:sym typeface="Arial"/>
            </a:endParaRPr>
          </a:p>
          <a:p>
            <a:pPr marL="0" marR="0" lvl="0" indent="0" algn="l" rtl="0">
              <a:lnSpc>
                <a:spcPct val="100000"/>
              </a:lnSpc>
              <a:spcBef>
                <a:spcPts val="0"/>
              </a:spcBef>
              <a:spcAft>
                <a:spcPts val="0"/>
              </a:spcAft>
              <a:buNone/>
            </a:pPr>
            <a:r>
              <a:rPr lang="en-US" sz="1400" b="1" i="0" u="none" strike="noStrike" cap="none" dirty="0">
                <a:solidFill>
                  <a:srgbClr val="000000"/>
                </a:solidFill>
                <a:latin typeface="Arial"/>
                <a:ea typeface="Arial"/>
                <a:cs typeface="Arial"/>
                <a:sym typeface="Arial"/>
              </a:rPr>
              <a:t>3) Name of IBM Granite model - </a:t>
            </a:r>
            <a:r>
              <a:rPr lang="en-US" sz="1400" b="0" i="0" u="none" strike="noStrike" cap="none" dirty="0">
                <a:solidFill>
                  <a:srgbClr val="000000"/>
                </a:solidFill>
                <a:latin typeface="Arial"/>
                <a:ea typeface="Arial"/>
                <a:cs typeface="Arial"/>
                <a:sym typeface="Arial"/>
              </a:rPr>
              <a:t>Granite-4.0-8B-Instruct → Fast, efficient for real-time diet recommendations</a:t>
            </a:r>
            <a:endParaRPr dirty="0"/>
          </a:p>
          <a:p>
            <a:pPr marL="0" marR="0" lvl="0" indent="0" algn="l" rtl="0">
              <a:lnSpc>
                <a:spcPct val="100000"/>
              </a:lnSpc>
              <a:spcBef>
                <a:spcPts val="0"/>
              </a:spcBef>
              <a:spcAft>
                <a:spcPts val="0"/>
              </a:spcAft>
              <a:buNone/>
            </a:pPr>
            <a:endParaRPr sz="1400" b="0" i="0" u="none" strike="noStrike" cap="none" dirty="0">
              <a:solidFill>
                <a:srgbClr val="000000"/>
              </a:solidFill>
              <a:latin typeface="Arial"/>
              <a:ea typeface="Arial"/>
              <a:cs typeface="Arial"/>
              <a:sym typeface="Arial"/>
            </a:endParaRPr>
          </a:p>
          <a:p>
            <a:pPr marL="0" marR="0" lvl="0" indent="0" algn="l" rtl="0">
              <a:lnSpc>
                <a:spcPct val="100000"/>
              </a:lnSpc>
              <a:spcBef>
                <a:spcPts val="0"/>
              </a:spcBef>
              <a:spcAft>
                <a:spcPts val="0"/>
              </a:spcAft>
              <a:buNone/>
            </a:pPr>
            <a:r>
              <a:rPr lang="en-US" sz="1400" b="1" i="0" u="none" strike="noStrike" cap="none" dirty="0">
                <a:solidFill>
                  <a:srgbClr val="000000"/>
                </a:solidFill>
                <a:latin typeface="Arial"/>
                <a:ea typeface="Arial"/>
                <a:cs typeface="Arial"/>
                <a:sym typeface="Arial"/>
              </a:rPr>
              <a:t>4) Chat output -</a:t>
            </a:r>
            <a:r>
              <a:rPr lang="en-US" sz="1400" b="0" i="0" u="none" strike="noStrike" cap="none" dirty="0">
                <a:solidFill>
                  <a:srgbClr val="000000"/>
                </a:solidFill>
                <a:latin typeface="Arial"/>
                <a:ea typeface="Arial"/>
                <a:cs typeface="Arial"/>
                <a:sym typeface="Arial"/>
              </a:rPr>
              <a:t>Displays AI-generated responses such as diet plans, nutritional analysis, and health suggestions. </a:t>
            </a:r>
            <a:endParaRPr dirty="0"/>
          </a:p>
          <a:p>
            <a:pPr marL="0" marR="0" lvl="0" indent="0" algn="l" rtl="0">
              <a:lnSpc>
                <a:spcPct val="100000"/>
              </a:lnSpc>
              <a:spcBef>
                <a:spcPts val="0"/>
              </a:spcBef>
              <a:spcAft>
                <a:spcPts val="0"/>
              </a:spcAft>
              <a:buNone/>
            </a:pPr>
            <a:endParaRPr sz="1400" b="0" i="0" u="none" strike="noStrike" cap="none" dirty="0">
              <a:solidFill>
                <a:srgbClr val="000000"/>
              </a:solidFill>
              <a:latin typeface="Arial"/>
              <a:ea typeface="Arial"/>
              <a:cs typeface="Arial"/>
              <a:sym typeface="Arial"/>
            </a:endParaRPr>
          </a:p>
          <a:p>
            <a:pPr marL="0" marR="0" lvl="0" indent="0" algn="l" rtl="0">
              <a:lnSpc>
                <a:spcPct val="100000"/>
              </a:lnSpc>
              <a:spcBef>
                <a:spcPts val="0"/>
              </a:spcBef>
              <a:spcAft>
                <a:spcPts val="0"/>
              </a:spcAft>
              <a:buNone/>
            </a:pPr>
            <a:endParaRPr sz="1400" b="0" i="0" u="none" strike="noStrike" cap="none" dirty="0">
              <a:solidFill>
                <a:srgbClr val="000000"/>
              </a:solidFill>
              <a:latin typeface="Arial"/>
              <a:ea typeface="Arial"/>
              <a:cs typeface="Arial"/>
              <a:sym typeface="Arial"/>
            </a:endParaRPr>
          </a:p>
          <a:p>
            <a:pPr marL="0" marR="0" lvl="0" indent="0" algn="l" rtl="0">
              <a:lnSpc>
                <a:spcPct val="100000"/>
              </a:lnSpc>
              <a:spcBef>
                <a:spcPts val="0"/>
              </a:spcBef>
              <a:spcAft>
                <a:spcPts val="0"/>
              </a:spcAft>
              <a:buNone/>
            </a:pPr>
            <a:endParaRPr sz="1400" b="0" i="0" u="none" strike="noStrike" cap="none" dirty="0">
              <a:solidFill>
                <a:srgbClr val="000000"/>
              </a:solidFill>
              <a:latin typeface="Arial"/>
              <a:ea typeface="Arial"/>
              <a:cs typeface="Arial"/>
              <a:sym typeface="Arial"/>
            </a:endParaRPr>
          </a:p>
          <a:p>
            <a:pPr marL="0" marR="0" lvl="0" indent="0" algn="l" rtl="0">
              <a:lnSpc>
                <a:spcPct val="100000"/>
              </a:lnSpc>
              <a:spcBef>
                <a:spcPts val="0"/>
              </a:spcBef>
              <a:spcAft>
                <a:spcPts val="0"/>
              </a:spcAft>
              <a:buNone/>
            </a:pPr>
            <a:endParaRPr sz="1400" b="0" i="0" u="none" strike="noStrike" cap="none" dirty="0">
              <a:solidFill>
                <a:srgbClr val="000000"/>
              </a:solidFill>
              <a:latin typeface="Arial"/>
              <a:ea typeface="Arial"/>
              <a:cs typeface="Arial"/>
              <a:sym typeface="Arial"/>
            </a:endParaRPr>
          </a:p>
          <a:p>
            <a:pPr marL="0" marR="0" lvl="0" indent="0" algn="l" rtl="0">
              <a:lnSpc>
                <a:spcPct val="100000"/>
              </a:lnSpc>
              <a:spcBef>
                <a:spcPts val="0"/>
              </a:spcBef>
              <a:spcAft>
                <a:spcPts val="0"/>
              </a:spcAft>
              <a:buNone/>
            </a:pPr>
            <a:endParaRPr sz="1400" b="0" i="0" u="none" strike="noStrike" cap="none" dirty="0">
              <a:solidFill>
                <a:srgbClr val="000000"/>
              </a:solidFill>
              <a:latin typeface="Arial"/>
              <a:ea typeface="Arial"/>
              <a:cs typeface="Arial"/>
              <a:sym typeface="Arial"/>
            </a:endParaRPr>
          </a:p>
          <a:p>
            <a:pPr marL="0" marR="0" lvl="0" indent="0" algn="l" rtl="0">
              <a:lnSpc>
                <a:spcPct val="100000"/>
              </a:lnSpc>
              <a:spcBef>
                <a:spcPts val="0"/>
              </a:spcBef>
              <a:spcAft>
                <a:spcPts val="0"/>
              </a:spcAft>
              <a:buNone/>
            </a:pPr>
            <a:endParaRPr sz="1400" b="0" i="0" u="none" strike="noStrike" cap="none" dirty="0">
              <a:solidFill>
                <a:srgbClr val="000000"/>
              </a:solidFill>
              <a:latin typeface="Arial"/>
              <a:ea typeface="Arial"/>
              <a:cs typeface="Arial"/>
              <a:sym typeface="Arial"/>
            </a:endParaRPr>
          </a:p>
          <a:p>
            <a:pPr marL="0" marR="0" lvl="0" indent="0" algn="l" rtl="0">
              <a:lnSpc>
                <a:spcPct val="100000"/>
              </a:lnSpc>
              <a:spcBef>
                <a:spcPts val="0"/>
              </a:spcBef>
              <a:spcAft>
                <a:spcPts val="0"/>
              </a:spcAft>
              <a:buNone/>
            </a:pPr>
            <a:endParaRPr sz="1400" b="0" i="0" u="none" strike="noStrike" cap="none" dirty="0">
              <a:solidFill>
                <a:srgbClr val="000000"/>
              </a:solidFill>
              <a:latin typeface="Arial"/>
              <a:ea typeface="Arial"/>
              <a:cs typeface="Arial"/>
              <a:sym typeface="Arial"/>
            </a:endParaRPr>
          </a:p>
          <a:p>
            <a:pPr marL="0" marR="0" lvl="0" indent="0" algn="l" rtl="0">
              <a:lnSpc>
                <a:spcPct val="100000"/>
              </a:lnSpc>
              <a:spcBef>
                <a:spcPts val="0"/>
              </a:spcBef>
              <a:spcAft>
                <a:spcPts val="0"/>
              </a:spcAft>
              <a:buNone/>
            </a:pPr>
            <a:r>
              <a:rPr lang="en-US" sz="1400" b="0" i="0" u="none" strike="noStrike" cap="none" dirty="0">
                <a:solidFill>
                  <a:srgbClr val="000000"/>
                </a:solidFill>
                <a:latin typeface="Arial"/>
                <a:ea typeface="Arial"/>
                <a:cs typeface="Arial"/>
                <a:sym typeface="Arial"/>
              </a:rPr>
              <a:t> </a:t>
            </a:r>
            <a:endParaRPr sz="1400" b="0" i="0" u="none" strike="noStrike" cap="none" dirty="0">
              <a:solidFill>
                <a:srgbClr val="000000"/>
              </a:solidFill>
              <a:latin typeface="Arial"/>
              <a:ea typeface="Arial"/>
              <a:cs typeface="Arial"/>
              <a:sym typeface="Arial"/>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24"/>
        <p:cNvGrpSpPr/>
        <p:nvPr/>
      </p:nvGrpSpPr>
      <p:grpSpPr>
        <a:xfrm>
          <a:off x="0" y="0"/>
          <a:ext cx="0" cy="0"/>
          <a:chOff x="0" y="0"/>
          <a:chExt cx="0" cy="0"/>
        </a:xfrm>
      </p:grpSpPr>
      <p:sp>
        <p:nvSpPr>
          <p:cNvPr id="125" name="Google Shape;125;p38"/>
          <p:cNvSpPr/>
          <p:nvPr/>
        </p:nvSpPr>
        <p:spPr>
          <a:xfrm>
            <a:off x="468764" y="156091"/>
            <a:ext cx="5908929" cy="448508"/>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51D3A"/>
              </a:buClr>
              <a:buSzPts val="3500"/>
              <a:buFont typeface="Times New Roman"/>
              <a:buNone/>
            </a:pPr>
            <a:r>
              <a:rPr lang="en-US" sz="2400" b="1" i="0" u="none" strike="noStrike" cap="none" dirty="0" err="1">
                <a:solidFill>
                  <a:srgbClr val="000000"/>
                </a:solidFill>
                <a:latin typeface="Arial"/>
                <a:ea typeface="Arial"/>
                <a:cs typeface="Arial"/>
                <a:sym typeface="Arial"/>
              </a:rPr>
              <a:t>Langflow</a:t>
            </a:r>
            <a:r>
              <a:rPr lang="en-US" sz="3500" b="1" i="0" u="none" strike="noStrike" cap="none" dirty="0">
                <a:solidFill>
                  <a:srgbClr val="051D3A"/>
                </a:solidFill>
                <a:latin typeface="Times New Roman"/>
                <a:ea typeface="Times New Roman"/>
                <a:cs typeface="Times New Roman"/>
                <a:sym typeface="Times New Roman"/>
              </a:rPr>
              <a:t> </a:t>
            </a:r>
            <a:r>
              <a:rPr lang="en-US" sz="2400" b="1" i="0" u="none" strike="noStrike" cap="none" dirty="0">
                <a:solidFill>
                  <a:srgbClr val="000000"/>
                </a:solidFill>
                <a:latin typeface="Arial"/>
                <a:ea typeface="Arial"/>
                <a:cs typeface="Arial"/>
                <a:sym typeface="Arial"/>
              </a:rPr>
              <a:t>workflow -</a:t>
            </a:r>
            <a:endParaRPr sz="2400" b="1" i="0" u="none" strike="noStrike" cap="none" dirty="0">
              <a:solidFill>
                <a:srgbClr val="000000"/>
              </a:solidFill>
              <a:latin typeface="Arial"/>
              <a:ea typeface="Arial"/>
              <a:cs typeface="Arial"/>
              <a:sym typeface="Arial"/>
            </a:endParaRPr>
          </a:p>
        </p:txBody>
      </p:sp>
      <p:pic>
        <p:nvPicPr>
          <p:cNvPr id="3" name="Picture 2">
            <a:extLst>
              <a:ext uri="{FF2B5EF4-FFF2-40B4-BE49-F238E27FC236}">
                <a16:creationId xmlns:a16="http://schemas.microsoft.com/office/drawing/2014/main" id="{0620A165-7F21-4125-A9D9-FBE508864DA7}"/>
              </a:ext>
            </a:extLst>
          </p:cNvPr>
          <p:cNvPicPr>
            <a:picLocks noChangeAspect="1"/>
          </p:cNvPicPr>
          <p:nvPr/>
        </p:nvPicPr>
        <p:blipFill>
          <a:blip r:embed="rId3"/>
          <a:stretch>
            <a:fillRect/>
          </a:stretch>
        </p:blipFill>
        <p:spPr>
          <a:xfrm>
            <a:off x="0" y="796414"/>
            <a:ext cx="12192000" cy="5583722"/>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30"/>
        <p:cNvGrpSpPr/>
        <p:nvPr/>
      </p:nvGrpSpPr>
      <p:grpSpPr>
        <a:xfrm>
          <a:off x="0" y="0"/>
          <a:ext cx="0" cy="0"/>
          <a:chOff x="0" y="0"/>
          <a:chExt cx="0" cy="0"/>
        </a:xfrm>
      </p:grpSpPr>
      <p:sp>
        <p:nvSpPr>
          <p:cNvPr id="131" name="Google Shape;131;p7"/>
          <p:cNvSpPr/>
          <p:nvPr/>
        </p:nvSpPr>
        <p:spPr>
          <a:xfrm>
            <a:off x="301616" y="89209"/>
            <a:ext cx="5908929" cy="448508"/>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US" sz="2400" b="1" i="0" u="none" strike="noStrike" cap="none" dirty="0">
                <a:solidFill>
                  <a:schemeClr val="dk1"/>
                </a:solidFill>
                <a:latin typeface="Calibri"/>
                <a:ea typeface="Calibri"/>
                <a:cs typeface="Calibri"/>
                <a:sym typeface="Calibri"/>
              </a:rPr>
              <a:t>Architecture blueprint</a:t>
            </a:r>
            <a:endParaRPr sz="2400" b="0" i="0" u="none" strike="noStrike" cap="none" dirty="0">
              <a:solidFill>
                <a:srgbClr val="000000"/>
              </a:solidFill>
              <a:latin typeface="Arial"/>
              <a:ea typeface="Arial"/>
              <a:cs typeface="Arial"/>
              <a:sym typeface="Arial"/>
            </a:endParaRPr>
          </a:p>
        </p:txBody>
      </p:sp>
      <p:pic>
        <p:nvPicPr>
          <p:cNvPr id="3" name="Picture 2">
            <a:extLst>
              <a:ext uri="{FF2B5EF4-FFF2-40B4-BE49-F238E27FC236}">
                <a16:creationId xmlns:a16="http://schemas.microsoft.com/office/drawing/2014/main" id="{C93F6DC5-E94A-37D6-5849-D33A714468A8}"/>
              </a:ext>
            </a:extLst>
          </p:cNvPr>
          <p:cNvPicPr>
            <a:picLocks noChangeAspect="1"/>
          </p:cNvPicPr>
          <p:nvPr/>
        </p:nvPicPr>
        <p:blipFill>
          <a:blip r:embed="rId3"/>
          <a:stretch>
            <a:fillRect/>
          </a:stretch>
        </p:blipFill>
        <p:spPr>
          <a:xfrm>
            <a:off x="0" y="688258"/>
            <a:ext cx="12192000" cy="5632024"/>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36"/>
        <p:cNvGrpSpPr/>
        <p:nvPr/>
      </p:nvGrpSpPr>
      <p:grpSpPr>
        <a:xfrm>
          <a:off x="0" y="0"/>
          <a:ext cx="0" cy="0"/>
          <a:chOff x="0" y="0"/>
          <a:chExt cx="0" cy="0"/>
        </a:xfrm>
      </p:grpSpPr>
      <p:pic>
        <p:nvPicPr>
          <p:cNvPr id="137" name="Google Shape;137;p9"/>
          <p:cNvPicPr preferRelativeResize="0"/>
          <p:nvPr/>
        </p:nvPicPr>
        <p:blipFill rotWithShape="1">
          <a:blip r:embed="rId3">
            <a:alphaModFix/>
          </a:blip>
          <a:srcRect/>
          <a:stretch/>
        </p:blipFill>
        <p:spPr>
          <a:xfrm>
            <a:off x="8371985" y="1167493"/>
            <a:ext cx="3015343" cy="4523014"/>
          </a:xfrm>
          <a:prstGeom prst="rect">
            <a:avLst/>
          </a:prstGeom>
          <a:noFill/>
          <a:ln>
            <a:noFill/>
          </a:ln>
        </p:spPr>
      </p:pic>
      <p:sp>
        <p:nvSpPr>
          <p:cNvPr id="138" name="Google Shape;138;p9"/>
          <p:cNvSpPr txBox="1"/>
          <p:nvPr/>
        </p:nvSpPr>
        <p:spPr>
          <a:xfrm>
            <a:off x="475488" y="283464"/>
            <a:ext cx="9317736" cy="584775"/>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3200" b="1" i="0" u="none" strike="noStrike" cap="none">
                <a:solidFill>
                  <a:srgbClr val="000000"/>
                </a:solidFill>
                <a:latin typeface="Arial"/>
                <a:ea typeface="Arial"/>
                <a:cs typeface="Arial"/>
                <a:sym typeface="Arial"/>
              </a:rPr>
              <a:t>Role of Agentic AI in the solution </a:t>
            </a:r>
            <a:endParaRPr sz="3200" b="1" i="0" u="none" strike="noStrike" cap="none">
              <a:solidFill>
                <a:srgbClr val="000000"/>
              </a:solidFill>
              <a:latin typeface="Arial"/>
              <a:ea typeface="Arial"/>
              <a:cs typeface="Arial"/>
              <a:sym typeface="Arial"/>
            </a:endParaRPr>
          </a:p>
        </p:txBody>
      </p:sp>
      <p:sp>
        <p:nvSpPr>
          <p:cNvPr id="139" name="Google Shape;139;p9"/>
          <p:cNvSpPr txBox="1"/>
          <p:nvPr/>
        </p:nvSpPr>
        <p:spPr>
          <a:xfrm>
            <a:off x="621792" y="1167493"/>
            <a:ext cx="7406640" cy="3108543"/>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1400" b="1" i="0" u="none" strike="noStrike" cap="none" dirty="0">
                <a:solidFill>
                  <a:srgbClr val="000000"/>
                </a:solidFill>
                <a:latin typeface="Arial"/>
                <a:ea typeface="Arial"/>
                <a:cs typeface="Arial"/>
                <a:sym typeface="Arial"/>
              </a:rPr>
              <a:t>Role of Agentic AI in Nutrition Agent</a:t>
            </a:r>
            <a:endParaRPr dirty="0"/>
          </a:p>
          <a:p>
            <a:pPr marL="0" marR="0" lvl="0" indent="0" algn="l" rtl="0">
              <a:lnSpc>
                <a:spcPct val="100000"/>
              </a:lnSpc>
              <a:spcBef>
                <a:spcPts val="0"/>
              </a:spcBef>
              <a:spcAft>
                <a:spcPts val="0"/>
              </a:spcAft>
              <a:buNone/>
            </a:pPr>
            <a:r>
              <a:rPr lang="en-US" sz="1400" b="1" i="0" u="none" strike="noStrike" cap="none" dirty="0">
                <a:solidFill>
                  <a:srgbClr val="000000"/>
                </a:solidFill>
                <a:latin typeface="Arial"/>
                <a:ea typeface="Arial"/>
                <a:cs typeface="Arial"/>
                <a:sym typeface="Arial"/>
              </a:rPr>
              <a:t>Agentic AI</a:t>
            </a:r>
            <a:r>
              <a:rPr lang="en-US" sz="1400" b="0" i="0" u="none" strike="noStrike" cap="none" dirty="0">
                <a:solidFill>
                  <a:srgbClr val="000000"/>
                </a:solidFill>
                <a:latin typeface="Arial"/>
                <a:ea typeface="Arial"/>
                <a:cs typeface="Arial"/>
                <a:sym typeface="Arial"/>
              </a:rPr>
              <a:t> enables the Nutrition Agent to function as an intelligent, autonomous system rather than a simple chatbot. Using </a:t>
            </a:r>
            <a:r>
              <a:rPr lang="en-US" sz="1400" b="1" i="0" u="none" strike="noStrike" cap="none" dirty="0">
                <a:solidFill>
                  <a:srgbClr val="000000"/>
                </a:solidFill>
                <a:latin typeface="Arial"/>
                <a:ea typeface="Arial"/>
                <a:cs typeface="Arial"/>
                <a:sym typeface="Arial"/>
              </a:rPr>
              <a:t>IBM watsonx.ai</a:t>
            </a:r>
            <a:r>
              <a:rPr lang="en-US" sz="1400" b="0" i="0" u="none" strike="noStrike" cap="none" dirty="0">
                <a:solidFill>
                  <a:srgbClr val="000000"/>
                </a:solidFill>
                <a:latin typeface="Arial"/>
                <a:ea typeface="Arial"/>
                <a:cs typeface="Arial"/>
                <a:sym typeface="Arial"/>
              </a:rPr>
              <a:t> and </a:t>
            </a:r>
            <a:r>
              <a:rPr lang="en-US" sz="1400" b="1" i="0" u="none" strike="noStrike" cap="none" dirty="0">
                <a:solidFill>
                  <a:srgbClr val="000000"/>
                </a:solidFill>
                <a:latin typeface="Arial"/>
                <a:ea typeface="Arial"/>
                <a:cs typeface="Arial"/>
                <a:sym typeface="Arial"/>
              </a:rPr>
              <a:t>IBM Granite models</a:t>
            </a:r>
            <a:r>
              <a:rPr lang="en-US" sz="1400" b="0" i="0" u="none" strike="noStrike" cap="none" dirty="0">
                <a:solidFill>
                  <a:srgbClr val="000000"/>
                </a:solidFill>
                <a:latin typeface="Arial"/>
                <a:ea typeface="Arial"/>
                <a:cs typeface="Arial"/>
                <a:sym typeface="Arial"/>
              </a:rPr>
              <a:t>, it coordinates multiple specialized agents to deliver personalized nutrition guidance.</a:t>
            </a:r>
            <a:endParaRPr dirty="0"/>
          </a:p>
          <a:p>
            <a:pPr marL="0" marR="0" lvl="0" indent="0" algn="l" rtl="0">
              <a:lnSpc>
                <a:spcPct val="100000"/>
              </a:lnSpc>
              <a:spcBef>
                <a:spcPts val="0"/>
              </a:spcBef>
              <a:spcAft>
                <a:spcPts val="0"/>
              </a:spcAft>
              <a:buNone/>
            </a:pPr>
            <a:r>
              <a:rPr lang="en-US" sz="1400" b="0" i="0" u="none" strike="noStrike" cap="none" dirty="0">
                <a:solidFill>
                  <a:srgbClr val="000000"/>
                </a:solidFill>
                <a:latin typeface="Arial"/>
                <a:ea typeface="Arial"/>
                <a:cs typeface="Arial"/>
                <a:sym typeface="Arial"/>
              </a:rPr>
              <a:t>Each agent performs a specific role—such as retrieving nutritional data, generating diet plans, providing health advice, and analyzing food logs—while working collaboratively. This </a:t>
            </a:r>
            <a:r>
              <a:rPr lang="en-US" sz="1400" b="1" i="0" u="none" strike="noStrike" cap="none" dirty="0">
                <a:solidFill>
                  <a:srgbClr val="000000"/>
                </a:solidFill>
                <a:latin typeface="Arial"/>
                <a:ea typeface="Arial"/>
                <a:cs typeface="Arial"/>
                <a:sym typeface="Arial"/>
              </a:rPr>
              <a:t>multi-agent approach</a:t>
            </a:r>
            <a:r>
              <a:rPr lang="en-US" sz="1400" b="0" i="0" u="none" strike="noStrike" cap="none" dirty="0">
                <a:solidFill>
                  <a:srgbClr val="000000"/>
                </a:solidFill>
                <a:latin typeface="Arial"/>
                <a:ea typeface="Arial"/>
                <a:cs typeface="Arial"/>
                <a:sym typeface="Arial"/>
              </a:rPr>
              <a:t> ensures efficient task execution and accurate results.</a:t>
            </a:r>
            <a:endParaRPr dirty="0"/>
          </a:p>
          <a:p>
            <a:pPr marL="0" marR="0" lvl="0" indent="0" algn="l" rtl="0">
              <a:lnSpc>
                <a:spcPct val="100000"/>
              </a:lnSpc>
              <a:spcBef>
                <a:spcPts val="0"/>
              </a:spcBef>
              <a:spcAft>
                <a:spcPts val="0"/>
              </a:spcAft>
              <a:buNone/>
            </a:pPr>
            <a:r>
              <a:rPr lang="en-US" sz="1400" b="0" i="0" u="none" strike="noStrike" cap="none" dirty="0">
                <a:solidFill>
                  <a:srgbClr val="000000"/>
                </a:solidFill>
                <a:latin typeface="Arial"/>
                <a:ea typeface="Arial"/>
                <a:cs typeface="Arial"/>
                <a:sym typeface="Arial"/>
              </a:rPr>
              <a:t>Agentic AI also brings </a:t>
            </a:r>
            <a:r>
              <a:rPr lang="en-US" sz="1400" b="1" i="0" u="none" strike="noStrike" cap="none" dirty="0">
                <a:solidFill>
                  <a:srgbClr val="000000"/>
                </a:solidFill>
                <a:latin typeface="Arial"/>
                <a:ea typeface="Arial"/>
                <a:cs typeface="Arial"/>
                <a:sym typeface="Arial"/>
              </a:rPr>
              <a:t>context awareness</a:t>
            </a:r>
            <a:r>
              <a:rPr lang="en-US" sz="1400" b="0" i="0" u="none" strike="noStrike" cap="none" dirty="0">
                <a:solidFill>
                  <a:srgbClr val="000000"/>
                </a:solidFill>
                <a:latin typeface="Arial"/>
                <a:ea typeface="Arial"/>
                <a:cs typeface="Arial"/>
                <a:sym typeface="Arial"/>
              </a:rPr>
              <a:t>, understanding user details like age, health conditions, and fitness goals to generate tailored recommendations. It supports </a:t>
            </a:r>
            <a:r>
              <a:rPr lang="en-US" sz="1400" b="1" i="0" u="none" strike="noStrike" cap="none" dirty="0">
                <a:solidFill>
                  <a:srgbClr val="000000"/>
                </a:solidFill>
                <a:latin typeface="Arial"/>
                <a:ea typeface="Arial"/>
                <a:cs typeface="Arial"/>
                <a:sym typeface="Arial"/>
              </a:rPr>
              <a:t>real-time adaptation</a:t>
            </a:r>
            <a:r>
              <a:rPr lang="en-US" sz="1400" b="0" i="0" u="none" strike="noStrike" cap="none" dirty="0">
                <a:solidFill>
                  <a:srgbClr val="000000"/>
                </a:solidFill>
                <a:latin typeface="Arial"/>
                <a:ea typeface="Arial"/>
                <a:cs typeface="Arial"/>
                <a:sym typeface="Arial"/>
              </a:rPr>
              <a:t>, continuously updating suggestions based on user inputs like daily meals.</a:t>
            </a:r>
            <a:endParaRPr dirty="0"/>
          </a:p>
          <a:p>
            <a:pPr marL="0" marR="0" lvl="0" indent="0" algn="l" rtl="0">
              <a:lnSpc>
                <a:spcPct val="100000"/>
              </a:lnSpc>
              <a:spcBef>
                <a:spcPts val="0"/>
              </a:spcBef>
              <a:spcAft>
                <a:spcPts val="0"/>
              </a:spcAft>
              <a:buNone/>
            </a:pPr>
            <a:r>
              <a:rPr lang="en-US" sz="1400" b="0" i="0" u="none" strike="noStrike" cap="none" dirty="0">
                <a:solidFill>
                  <a:srgbClr val="000000"/>
                </a:solidFill>
                <a:latin typeface="Arial"/>
                <a:ea typeface="Arial"/>
                <a:cs typeface="Arial"/>
                <a:sym typeface="Arial"/>
              </a:rPr>
              <a:t>Additionally, agents communicate with each other, enabling better decision-making and improved outcomes.</a:t>
            </a:r>
            <a:endParaRPr dirty="0"/>
          </a:p>
          <a:p>
            <a:pPr marL="0" marR="0" lvl="0" indent="0" algn="l" rtl="0">
              <a:lnSpc>
                <a:spcPct val="100000"/>
              </a:lnSpc>
              <a:spcBef>
                <a:spcPts val="0"/>
              </a:spcBef>
              <a:spcAft>
                <a:spcPts val="0"/>
              </a:spcAft>
              <a:buNone/>
            </a:pPr>
            <a:r>
              <a:rPr lang="en-US" sz="1400" b="0" i="0" u="none" strike="noStrike" cap="none" dirty="0">
                <a:solidFill>
                  <a:srgbClr val="000000"/>
                </a:solidFill>
                <a:latin typeface="Arial"/>
                <a:ea typeface="Arial"/>
                <a:cs typeface="Arial"/>
                <a:sym typeface="Arial"/>
              </a:rPr>
              <a:t>Overall, Agentic AI makes the system proactive, personalized, and goal-driven, acting like a </a:t>
            </a:r>
            <a:r>
              <a:rPr lang="en-US" sz="1400" b="1" i="0" u="none" strike="noStrike" cap="none" dirty="0">
                <a:solidFill>
                  <a:srgbClr val="000000"/>
                </a:solidFill>
                <a:latin typeface="Arial"/>
                <a:ea typeface="Arial"/>
                <a:cs typeface="Arial"/>
                <a:sym typeface="Arial"/>
              </a:rPr>
              <a:t>smart digital nutritionist</a:t>
            </a:r>
            <a:r>
              <a:rPr lang="en-US" sz="1400" b="0" i="0" u="none" strike="noStrike" cap="none" dirty="0">
                <a:solidFill>
                  <a:srgbClr val="000000"/>
                </a:solidFill>
                <a:latin typeface="Arial"/>
                <a:ea typeface="Arial"/>
                <a:cs typeface="Arial"/>
                <a:sym typeface="Arial"/>
              </a:rPr>
              <a:t> that helps users maintain a healthy lifestyle.</a:t>
            </a:r>
            <a:endParaRPr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56"/>
        <p:cNvGrpSpPr/>
        <p:nvPr/>
      </p:nvGrpSpPr>
      <p:grpSpPr>
        <a:xfrm>
          <a:off x="0" y="0"/>
          <a:ext cx="0" cy="0"/>
          <a:chOff x="0" y="0"/>
          <a:chExt cx="0" cy="0"/>
        </a:xfrm>
      </p:grpSpPr>
      <p:sp>
        <p:nvSpPr>
          <p:cNvPr id="157" name="Google Shape;157;p40"/>
          <p:cNvSpPr txBox="1"/>
          <p:nvPr/>
        </p:nvSpPr>
        <p:spPr>
          <a:xfrm>
            <a:off x="777240" y="484632"/>
            <a:ext cx="7123176" cy="461665"/>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2400" b="1" i="0" u="none" strike="noStrike" cap="none">
                <a:solidFill>
                  <a:srgbClr val="000000"/>
                </a:solidFill>
                <a:latin typeface="Arial"/>
                <a:ea typeface="Arial"/>
                <a:cs typeface="Arial"/>
                <a:sym typeface="Arial"/>
              </a:rPr>
              <a:t>Novelty and Uniqueness</a:t>
            </a:r>
            <a:endParaRPr sz="2400" b="1" i="0" u="none" strike="noStrike" cap="none">
              <a:solidFill>
                <a:srgbClr val="000000"/>
              </a:solidFill>
              <a:latin typeface="Arial"/>
              <a:ea typeface="Arial"/>
              <a:cs typeface="Arial"/>
              <a:sym typeface="Arial"/>
            </a:endParaRPr>
          </a:p>
        </p:txBody>
      </p:sp>
      <p:sp>
        <p:nvSpPr>
          <p:cNvPr id="158" name="Google Shape;158;p40"/>
          <p:cNvSpPr txBox="1"/>
          <p:nvPr/>
        </p:nvSpPr>
        <p:spPr>
          <a:xfrm>
            <a:off x="777240" y="1207008"/>
            <a:ext cx="11301984" cy="5293757"/>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1800" b="0" i="0" u="none" strike="noStrike" cap="none">
                <a:solidFill>
                  <a:srgbClr val="000000"/>
                </a:solidFill>
                <a:latin typeface="Arial"/>
                <a:ea typeface="Arial"/>
                <a:cs typeface="Arial"/>
                <a:sym typeface="Arial"/>
              </a:rPr>
              <a:t>The proposed Nutrition Agent stands out by combining </a:t>
            </a:r>
            <a:r>
              <a:rPr lang="en-US" sz="1800" b="1" i="0" u="none" strike="noStrike" cap="none">
                <a:solidFill>
                  <a:srgbClr val="000000"/>
                </a:solidFill>
                <a:latin typeface="Arial"/>
                <a:ea typeface="Arial"/>
                <a:cs typeface="Arial"/>
                <a:sym typeface="Arial"/>
              </a:rPr>
              <a:t>Agentic AI, RAG, and personalization</a:t>
            </a:r>
            <a:r>
              <a:rPr lang="en-US" sz="1800" b="0" i="0" u="none" strike="noStrike" cap="none">
                <a:solidFill>
                  <a:srgbClr val="000000"/>
                </a:solidFill>
                <a:latin typeface="Arial"/>
                <a:ea typeface="Arial"/>
                <a:cs typeface="Arial"/>
                <a:sym typeface="Arial"/>
              </a:rPr>
              <a:t> into a single intelligent system.</a:t>
            </a:r>
            <a:endParaRPr/>
          </a:p>
          <a:p>
            <a:pPr marL="0" marR="0" lvl="0" indent="0" algn="l" rtl="0">
              <a:lnSpc>
                <a:spcPct val="100000"/>
              </a:lnSpc>
              <a:spcBef>
                <a:spcPts val="0"/>
              </a:spcBef>
              <a:spcAft>
                <a:spcPts val="0"/>
              </a:spcAft>
              <a:buNone/>
            </a:pPr>
            <a:endParaRPr sz="1800" b="0" i="0" u="none" strike="noStrike" cap="none">
              <a:solidFill>
                <a:srgbClr val="000000"/>
              </a:solidFill>
              <a:latin typeface="Arial"/>
              <a:ea typeface="Arial"/>
              <a:cs typeface="Arial"/>
              <a:sym typeface="Arial"/>
            </a:endParaRPr>
          </a:p>
          <a:p>
            <a:pPr marL="0" marR="0" lvl="0" indent="0" algn="l" rtl="0">
              <a:lnSpc>
                <a:spcPct val="100000"/>
              </a:lnSpc>
              <a:spcBef>
                <a:spcPts val="0"/>
              </a:spcBef>
              <a:spcAft>
                <a:spcPts val="0"/>
              </a:spcAft>
              <a:buNone/>
            </a:pPr>
            <a:r>
              <a:rPr lang="en-US" sz="1800" b="1" i="0" u="none" strike="noStrike" cap="none">
                <a:solidFill>
                  <a:srgbClr val="000000"/>
                </a:solidFill>
                <a:latin typeface="Arial"/>
                <a:ea typeface="Arial"/>
                <a:cs typeface="Arial"/>
                <a:sym typeface="Arial"/>
              </a:rPr>
              <a:t>Multi-Agent Intelligence</a:t>
            </a:r>
            <a:r>
              <a:rPr lang="en-US" sz="1800" b="0" i="0" u="none" strike="noStrike" cap="none">
                <a:solidFill>
                  <a:srgbClr val="000000"/>
                </a:solidFill>
                <a:latin typeface="Arial"/>
                <a:ea typeface="Arial"/>
                <a:cs typeface="Arial"/>
                <a:sym typeface="Arial"/>
              </a:rPr>
              <a:t> – Instead of a single chatbot, multiple specialized agents collaborate to deliver accurate and context-aware nutrition guidance. </a:t>
            </a:r>
            <a:endParaRPr/>
          </a:p>
          <a:p>
            <a:pPr marL="0" marR="0" lvl="0" indent="0" algn="l" rtl="0">
              <a:lnSpc>
                <a:spcPct val="100000"/>
              </a:lnSpc>
              <a:spcBef>
                <a:spcPts val="0"/>
              </a:spcBef>
              <a:spcAft>
                <a:spcPts val="0"/>
              </a:spcAft>
              <a:buNone/>
            </a:pPr>
            <a:r>
              <a:rPr lang="en-US" sz="1800" b="1" i="0" u="none" strike="noStrike" cap="none">
                <a:solidFill>
                  <a:srgbClr val="000000"/>
                </a:solidFill>
                <a:latin typeface="Arial"/>
                <a:ea typeface="Arial"/>
                <a:cs typeface="Arial"/>
                <a:sym typeface="Arial"/>
              </a:rPr>
              <a:t>RAG-Based Accuracy</a:t>
            </a:r>
            <a:r>
              <a:rPr lang="en-US" sz="1800" b="0" i="0" u="none" strike="noStrike" cap="none">
                <a:solidFill>
                  <a:srgbClr val="000000"/>
                </a:solidFill>
                <a:latin typeface="Arial"/>
                <a:ea typeface="Arial"/>
                <a:cs typeface="Arial"/>
                <a:sym typeface="Arial"/>
              </a:rPr>
              <a:t> – Integrates real-time data retrieval with AI generation, reducing misinformation and ensuring trustworthy recommendations. </a:t>
            </a:r>
            <a:endParaRPr/>
          </a:p>
          <a:p>
            <a:pPr marL="0" marR="0" lvl="0" indent="0" algn="l" rtl="0">
              <a:lnSpc>
                <a:spcPct val="100000"/>
              </a:lnSpc>
              <a:spcBef>
                <a:spcPts val="0"/>
              </a:spcBef>
              <a:spcAft>
                <a:spcPts val="0"/>
              </a:spcAft>
              <a:buNone/>
            </a:pPr>
            <a:r>
              <a:rPr lang="en-US" sz="1800" b="1" i="0" u="none" strike="noStrike" cap="none">
                <a:solidFill>
                  <a:srgbClr val="000000"/>
                </a:solidFill>
                <a:latin typeface="Arial"/>
                <a:ea typeface="Arial"/>
                <a:cs typeface="Arial"/>
                <a:sym typeface="Arial"/>
              </a:rPr>
              <a:t>Hyper-Personalization</a:t>
            </a:r>
            <a:r>
              <a:rPr lang="en-US" sz="1800" b="0" i="0" u="none" strike="noStrike" cap="none">
                <a:solidFill>
                  <a:srgbClr val="000000"/>
                </a:solidFill>
                <a:latin typeface="Arial"/>
                <a:ea typeface="Arial"/>
                <a:cs typeface="Arial"/>
                <a:sym typeface="Arial"/>
              </a:rPr>
              <a:t> – Tailors diet plans based on health conditions, cultural preferences, and fitness goals. </a:t>
            </a:r>
            <a:endParaRPr/>
          </a:p>
          <a:p>
            <a:pPr marL="0" marR="0" lvl="0" indent="0" algn="l" rtl="0">
              <a:lnSpc>
                <a:spcPct val="100000"/>
              </a:lnSpc>
              <a:spcBef>
                <a:spcPts val="0"/>
              </a:spcBef>
              <a:spcAft>
                <a:spcPts val="0"/>
              </a:spcAft>
              <a:buNone/>
            </a:pPr>
            <a:r>
              <a:rPr lang="en-US" sz="1800" b="1" i="0" u="none" strike="noStrike" cap="none">
                <a:solidFill>
                  <a:srgbClr val="000000"/>
                </a:solidFill>
                <a:latin typeface="Arial"/>
                <a:ea typeface="Arial"/>
                <a:cs typeface="Arial"/>
                <a:sym typeface="Arial"/>
              </a:rPr>
              <a:t>Real-Time Feedback Loop</a:t>
            </a:r>
            <a:r>
              <a:rPr lang="en-US" sz="1800" b="0" i="0" u="none" strike="noStrike" cap="none">
                <a:solidFill>
                  <a:srgbClr val="000000"/>
                </a:solidFill>
                <a:latin typeface="Arial"/>
                <a:ea typeface="Arial"/>
                <a:cs typeface="Arial"/>
                <a:sym typeface="Arial"/>
              </a:rPr>
              <a:t> – Continuously adapts recommendations based on daily food logs and user behavior. </a:t>
            </a:r>
            <a:endParaRPr/>
          </a:p>
          <a:p>
            <a:pPr marL="0" marR="0" lvl="0" indent="0" algn="l" rtl="0">
              <a:lnSpc>
                <a:spcPct val="100000"/>
              </a:lnSpc>
              <a:spcBef>
                <a:spcPts val="0"/>
              </a:spcBef>
              <a:spcAft>
                <a:spcPts val="0"/>
              </a:spcAft>
              <a:buNone/>
            </a:pPr>
            <a:r>
              <a:rPr lang="en-US" sz="1800" b="1" i="0" u="none" strike="noStrike" cap="none">
                <a:solidFill>
                  <a:srgbClr val="000000"/>
                </a:solidFill>
                <a:latin typeface="Arial"/>
                <a:ea typeface="Arial"/>
                <a:cs typeface="Arial"/>
                <a:sym typeface="Arial"/>
              </a:rPr>
              <a:t>Multi-Modal Input</a:t>
            </a:r>
            <a:r>
              <a:rPr lang="en-US" sz="1800" b="0" i="0" u="none" strike="noStrike" cap="none">
                <a:solidFill>
                  <a:srgbClr val="000000"/>
                </a:solidFill>
                <a:latin typeface="Arial"/>
                <a:ea typeface="Arial"/>
                <a:cs typeface="Arial"/>
                <a:sym typeface="Arial"/>
              </a:rPr>
              <a:t> – Supports text, voice, and image-based meal tracking for better usability. </a:t>
            </a:r>
            <a:endParaRPr/>
          </a:p>
          <a:p>
            <a:pPr marL="0" marR="0" lvl="0" indent="0" algn="l" rtl="0">
              <a:lnSpc>
                <a:spcPct val="100000"/>
              </a:lnSpc>
              <a:spcBef>
                <a:spcPts val="0"/>
              </a:spcBef>
              <a:spcAft>
                <a:spcPts val="0"/>
              </a:spcAft>
              <a:buNone/>
            </a:pPr>
            <a:r>
              <a:rPr lang="en-US" sz="1800" b="1" i="0" u="none" strike="noStrike" cap="none">
                <a:solidFill>
                  <a:srgbClr val="000000"/>
                </a:solidFill>
                <a:latin typeface="Arial"/>
                <a:ea typeface="Arial"/>
                <a:cs typeface="Arial"/>
                <a:sym typeface="Arial"/>
              </a:rPr>
              <a:t>Preventive Healthcare Focus</a:t>
            </a:r>
            <a:r>
              <a:rPr lang="en-US" sz="1800" b="0" i="0" u="none" strike="noStrike" cap="none">
                <a:solidFill>
                  <a:srgbClr val="000000"/>
                </a:solidFill>
                <a:latin typeface="Arial"/>
                <a:ea typeface="Arial"/>
                <a:cs typeface="Arial"/>
                <a:sym typeface="Arial"/>
              </a:rPr>
              <a:t> – Goes beyond diet planning to provide disease-specific nutrition advice. </a:t>
            </a:r>
            <a:endParaRPr/>
          </a:p>
          <a:p>
            <a:pPr marL="0" marR="0" lvl="0" indent="0" algn="l" rtl="0">
              <a:lnSpc>
                <a:spcPct val="100000"/>
              </a:lnSpc>
              <a:spcBef>
                <a:spcPts val="0"/>
              </a:spcBef>
              <a:spcAft>
                <a:spcPts val="0"/>
              </a:spcAft>
              <a:buNone/>
            </a:pPr>
            <a:r>
              <a:rPr lang="en-US" sz="1800" b="1" i="0" u="none" strike="noStrike" cap="none">
                <a:solidFill>
                  <a:srgbClr val="000000"/>
                </a:solidFill>
                <a:latin typeface="Arial"/>
                <a:ea typeface="Arial"/>
                <a:cs typeface="Arial"/>
                <a:sym typeface="Arial"/>
              </a:rPr>
              <a:t>Scalable &amp; Enterprise-Ready</a:t>
            </a:r>
            <a:r>
              <a:rPr lang="en-US" sz="1800" b="0" i="0" u="none" strike="noStrike" cap="none">
                <a:solidFill>
                  <a:srgbClr val="000000"/>
                </a:solidFill>
                <a:latin typeface="Arial"/>
                <a:ea typeface="Arial"/>
                <a:cs typeface="Arial"/>
                <a:sym typeface="Arial"/>
              </a:rPr>
              <a:t> – Built on </a:t>
            </a:r>
            <a:r>
              <a:rPr lang="en-US" sz="1800" b="1" i="0" u="none" strike="noStrike" cap="none">
                <a:solidFill>
                  <a:srgbClr val="000000"/>
                </a:solidFill>
                <a:latin typeface="Arial"/>
                <a:ea typeface="Arial"/>
                <a:cs typeface="Arial"/>
                <a:sym typeface="Arial"/>
              </a:rPr>
              <a:t>IBM watsonx.ai</a:t>
            </a:r>
            <a:r>
              <a:rPr lang="en-US" sz="1800" b="0" i="0" u="none" strike="noStrike" cap="none">
                <a:solidFill>
                  <a:srgbClr val="000000"/>
                </a:solidFill>
                <a:latin typeface="Arial"/>
                <a:ea typeface="Arial"/>
                <a:cs typeface="Arial"/>
                <a:sym typeface="Arial"/>
              </a:rPr>
              <a:t> with </a:t>
            </a:r>
            <a:r>
              <a:rPr lang="en-US" sz="1800" b="1" i="0" u="none" strike="noStrike" cap="none">
                <a:solidFill>
                  <a:srgbClr val="000000"/>
                </a:solidFill>
                <a:latin typeface="Arial"/>
                <a:ea typeface="Arial"/>
                <a:cs typeface="Arial"/>
                <a:sym typeface="Arial"/>
              </a:rPr>
              <a:t>IBM Granite models</a:t>
            </a:r>
            <a:r>
              <a:rPr lang="en-US" sz="1800" b="0" i="0" u="none" strike="noStrike" cap="none">
                <a:solidFill>
                  <a:srgbClr val="000000"/>
                </a:solidFill>
                <a:latin typeface="Arial"/>
                <a:ea typeface="Arial"/>
                <a:cs typeface="Arial"/>
                <a:sym typeface="Arial"/>
              </a:rPr>
              <a:t>, ensuring reliability and governance. </a:t>
            </a:r>
            <a:endParaRPr/>
          </a:p>
          <a:p>
            <a:pPr marL="0" marR="0" lvl="0" indent="0" algn="l" rtl="0">
              <a:lnSpc>
                <a:spcPct val="100000"/>
              </a:lnSpc>
              <a:spcBef>
                <a:spcPts val="0"/>
              </a:spcBef>
              <a:spcAft>
                <a:spcPts val="0"/>
              </a:spcAft>
              <a:buNone/>
            </a:pPr>
            <a:endParaRPr sz="1800" b="0" i="0" u="none" strike="noStrike" cap="none">
              <a:solidFill>
                <a:srgbClr val="000000"/>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rgbClr val="000000"/>
                </a:solidFill>
                <a:latin typeface="Arial"/>
                <a:ea typeface="Arial"/>
                <a:cs typeface="Arial"/>
                <a:sym typeface="Arial"/>
              </a:rPr>
              <a:t>This makes the solution a </a:t>
            </a:r>
            <a:r>
              <a:rPr lang="en-US" sz="1800" b="1" i="0" u="none" strike="noStrike" cap="none">
                <a:solidFill>
                  <a:srgbClr val="000000"/>
                </a:solidFill>
                <a:latin typeface="Arial"/>
                <a:ea typeface="Arial"/>
                <a:cs typeface="Arial"/>
                <a:sym typeface="Arial"/>
              </a:rPr>
              <a:t>smart, adaptive, and proactive digital nutritionist</a:t>
            </a:r>
            <a:r>
              <a:rPr lang="en-US" sz="1800" b="0" i="0" u="none" strike="noStrike" cap="none">
                <a:solidFill>
                  <a:srgbClr val="000000"/>
                </a:solidFill>
                <a:latin typeface="Arial"/>
                <a:ea typeface="Arial"/>
                <a:cs typeface="Arial"/>
                <a:sym typeface="Arial"/>
              </a:rPr>
              <a:t>, not just a static diet recommendation tool.</a:t>
            </a:r>
            <a:endParaRPr sz="1400" b="0" i="0" u="none" strike="noStrike" cap="none">
              <a:solidFill>
                <a:srgbClr val="000000"/>
              </a:solidFill>
              <a:latin typeface="Arial"/>
              <a:ea typeface="Arial"/>
              <a:cs typeface="Arial"/>
              <a:sym typeface="Arial"/>
            </a:endParaRPr>
          </a:p>
          <a:p>
            <a:pPr marL="0" marR="0" lvl="0" indent="0" algn="l"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71"/>
        <p:cNvGrpSpPr/>
        <p:nvPr/>
      </p:nvGrpSpPr>
      <p:grpSpPr>
        <a:xfrm>
          <a:off x="0" y="0"/>
          <a:ext cx="0" cy="0"/>
          <a:chOff x="0" y="0"/>
          <a:chExt cx="0" cy="0"/>
        </a:xfrm>
      </p:grpSpPr>
      <p:sp>
        <p:nvSpPr>
          <p:cNvPr id="172" name="Google Shape;172;p42"/>
          <p:cNvSpPr/>
          <p:nvPr/>
        </p:nvSpPr>
        <p:spPr>
          <a:xfrm>
            <a:off x="1218724" y="420729"/>
            <a:ext cx="6444496" cy="704017"/>
          </a:xfrm>
          <a:prstGeom prst="rect">
            <a:avLst/>
          </a:prstGeom>
          <a:noFill/>
          <a:ln>
            <a:noFill/>
          </a:ln>
        </p:spPr>
        <p:txBody>
          <a:bodyPr spcFirstLastPara="1" wrap="square" lIns="0" tIns="0" rIns="0" bIns="0" anchor="t" anchorCtr="0">
            <a:noAutofit/>
          </a:bodyPr>
          <a:lstStyle/>
          <a:p>
            <a:pPr marL="0" marR="0" lvl="0" indent="0" algn="l" rtl="0">
              <a:lnSpc>
                <a:spcPct val="157142"/>
              </a:lnSpc>
              <a:spcBef>
                <a:spcPts val="0"/>
              </a:spcBef>
              <a:spcAft>
                <a:spcPts val="0"/>
              </a:spcAft>
              <a:buClr>
                <a:srgbClr val="051D3A"/>
              </a:buClr>
              <a:buSzPts val="3500"/>
              <a:buFont typeface="Times New Roman"/>
              <a:buNone/>
            </a:pPr>
            <a:r>
              <a:rPr lang="en-US" sz="2400" b="1" i="0" u="none" strike="noStrike" cap="none">
                <a:solidFill>
                  <a:srgbClr val="000000"/>
                </a:solidFill>
                <a:latin typeface="Arial"/>
                <a:ea typeface="Arial"/>
                <a:cs typeface="Arial"/>
                <a:sym typeface="Arial"/>
              </a:rPr>
              <a:t>Future Scope </a:t>
            </a:r>
            <a:endParaRPr sz="2400" b="1" i="0" u="none" strike="noStrike" cap="none">
              <a:solidFill>
                <a:srgbClr val="000000"/>
              </a:solidFill>
              <a:latin typeface="Arial"/>
              <a:ea typeface="Arial"/>
              <a:cs typeface="Arial"/>
              <a:sym typeface="Arial"/>
            </a:endParaRPr>
          </a:p>
        </p:txBody>
      </p:sp>
      <p:sp>
        <p:nvSpPr>
          <p:cNvPr id="173" name="Google Shape;173;p42"/>
          <p:cNvSpPr/>
          <p:nvPr/>
        </p:nvSpPr>
        <p:spPr>
          <a:xfrm>
            <a:off x="1218724" y="1221715"/>
            <a:ext cx="9214580" cy="4277001"/>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1" i="0" u="none" strike="noStrike" cap="none">
                <a:solidFill>
                  <a:srgbClr val="2B3541"/>
                </a:solidFill>
                <a:latin typeface="Times New Roman"/>
                <a:ea typeface="Times New Roman"/>
                <a:cs typeface="Times New Roman"/>
                <a:sym typeface="Times New Roman"/>
              </a:rPr>
              <a:t>1.Integration with Wearables &amp; Health Devices – </a:t>
            </a:r>
            <a:endParaRPr/>
          </a:p>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The system can be integrated with smartwatches and fitness trackers to collect real-time data such as steps, calories burned, heart rate, and sleep patterns. This will enable the Nutrition Agent to provide more accurate and dynamic diet recommendations based on actual user activity and health metrics.</a:t>
            </a:r>
            <a:endParaRPr/>
          </a:p>
          <a:p>
            <a:pPr marL="0" marR="0" lvl="0" indent="0" algn="l" rtl="0">
              <a:lnSpc>
                <a:spcPct val="162162"/>
              </a:lnSpc>
              <a:spcBef>
                <a:spcPts val="0"/>
              </a:spcBef>
              <a:spcAft>
                <a:spcPts val="0"/>
              </a:spcAft>
              <a:buClr>
                <a:srgbClr val="2B3541"/>
              </a:buClr>
              <a:buSzPts val="1850"/>
              <a:buFont typeface="Times New Roman"/>
              <a:buNone/>
            </a:pPr>
            <a:r>
              <a:rPr lang="en-US" sz="1850" b="1" i="0" u="none" strike="noStrike" cap="none">
                <a:solidFill>
                  <a:srgbClr val="2B3541"/>
                </a:solidFill>
                <a:latin typeface="Times New Roman"/>
                <a:ea typeface="Times New Roman"/>
                <a:cs typeface="Times New Roman"/>
                <a:sym typeface="Times New Roman"/>
              </a:rPr>
              <a:t>2.AI-Powered Voice Assistant &amp; Multilingual Support </a:t>
            </a:r>
            <a:r>
              <a:rPr lang="en-US" sz="1850" b="0" i="0" u="none" strike="noStrike" cap="none">
                <a:solidFill>
                  <a:srgbClr val="2B3541"/>
                </a:solidFill>
                <a:latin typeface="Times New Roman"/>
                <a:ea typeface="Times New Roman"/>
                <a:cs typeface="Times New Roman"/>
                <a:sym typeface="Times New Roman"/>
              </a:rPr>
              <a:t>– </a:t>
            </a:r>
            <a:endParaRPr/>
          </a:p>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Enhancing the system with a voice-enabled assistant and support for multiple languages will improve accessibility. Users can interact naturally in their preferred language, making the solution more inclusive and suitable for diverse populations, especially in regions with varied linguistic backgrounds.</a:t>
            </a:r>
            <a:endParaRPr sz="1850" b="0" i="0" u="none" strike="noStrike" cap="none">
              <a:solidFill>
                <a:srgbClr val="000000"/>
              </a:solidFill>
              <a:latin typeface="Times New Roman"/>
              <a:ea typeface="Times New Roman"/>
              <a:cs typeface="Times New Roman"/>
              <a:sym typeface="Times New Roman"/>
            </a:endParaRPr>
          </a:p>
        </p:txBody>
      </p:sp>
      <p:sp>
        <p:nvSpPr>
          <p:cNvPr id="174" name="Google Shape;174;p42"/>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175" name="Google Shape;175;p42"/>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176" name="Google Shape;176;p42"/>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80"/>
        <p:cNvGrpSpPr/>
        <p:nvPr/>
      </p:nvGrpSpPr>
      <p:grpSpPr>
        <a:xfrm>
          <a:off x="0" y="0"/>
          <a:ext cx="0" cy="0"/>
          <a:chOff x="0" y="0"/>
          <a:chExt cx="0" cy="0"/>
        </a:xfrm>
      </p:grpSpPr>
      <p:sp>
        <p:nvSpPr>
          <p:cNvPr id="182" name="Google Shape;182;p43"/>
          <p:cNvSpPr txBox="1"/>
          <p:nvPr/>
        </p:nvSpPr>
        <p:spPr>
          <a:xfrm>
            <a:off x="327949" y="207380"/>
            <a:ext cx="6096000" cy="677108"/>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2400" b="1" i="0" u="none" strike="noStrike" cap="none">
                <a:solidFill>
                  <a:srgbClr val="000000"/>
                </a:solidFill>
                <a:latin typeface="Arial"/>
                <a:ea typeface="Arial"/>
                <a:cs typeface="Arial"/>
                <a:sym typeface="Arial"/>
              </a:rPr>
              <a:t>Certificates Earned:</a:t>
            </a:r>
            <a:endParaRPr/>
          </a:p>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183" name="Google Shape;183;p43"/>
          <p:cNvSpPr txBox="1"/>
          <p:nvPr/>
        </p:nvSpPr>
        <p:spPr>
          <a:xfrm>
            <a:off x="3375949" y="361268"/>
            <a:ext cx="6389965" cy="52322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2800" b="1" i="0" u="none" strike="noStrike" cap="none" dirty="0" err="1">
                <a:solidFill>
                  <a:srgbClr val="000000"/>
                </a:solidFill>
                <a:latin typeface="Arial"/>
                <a:ea typeface="Arial"/>
                <a:cs typeface="Arial"/>
                <a:sym typeface="Arial"/>
              </a:rPr>
              <a:t>credly</a:t>
            </a:r>
            <a:r>
              <a:rPr lang="en-US" sz="2800" b="1" i="0" u="none" strike="noStrike" cap="none" dirty="0">
                <a:solidFill>
                  <a:srgbClr val="000000"/>
                </a:solidFill>
                <a:latin typeface="Arial"/>
                <a:ea typeface="Arial"/>
                <a:cs typeface="Arial"/>
                <a:sym typeface="Arial"/>
              </a:rPr>
              <a:t> certificate </a:t>
            </a:r>
            <a:endParaRPr dirty="0"/>
          </a:p>
        </p:txBody>
      </p:sp>
      <p:pic>
        <p:nvPicPr>
          <p:cNvPr id="3" name="Picture 2">
            <a:extLst>
              <a:ext uri="{FF2B5EF4-FFF2-40B4-BE49-F238E27FC236}">
                <a16:creationId xmlns:a16="http://schemas.microsoft.com/office/drawing/2014/main" id="{04118E2F-8E70-0BC4-2724-C2B1309C3B51}"/>
              </a:ext>
            </a:extLst>
          </p:cNvPr>
          <p:cNvPicPr>
            <a:picLocks noChangeAspect="1"/>
          </p:cNvPicPr>
          <p:nvPr/>
        </p:nvPicPr>
        <p:blipFill>
          <a:blip r:embed="rId3"/>
          <a:stretch>
            <a:fillRect/>
          </a:stretch>
        </p:blipFill>
        <p:spPr>
          <a:xfrm>
            <a:off x="327949" y="884488"/>
            <a:ext cx="11312003" cy="5973511"/>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87"/>
        <p:cNvGrpSpPr/>
        <p:nvPr/>
      </p:nvGrpSpPr>
      <p:grpSpPr>
        <a:xfrm>
          <a:off x="0" y="0"/>
          <a:ext cx="0" cy="0"/>
          <a:chOff x="0" y="0"/>
          <a:chExt cx="0" cy="0"/>
        </a:xfrm>
      </p:grpSpPr>
      <p:sp>
        <p:nvSpPr>
          <p:cNvPr id="189" name="Google Shape;189;p44"/>
          <p:cNvSpPr txBox="1"/>
          <p:nvPr/>
        </p:nvSpPr>
        <p:spPr>
          <a:xfrm>
            <a:off x="176696" y="226391"/>
            <a:ext cx="6096000" cy="677108"/>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2400" b="1" i="0" u="none" strike="noStrike" cap="none">
                <a:solidFill>
                  <a:srgbClr val="000000"/>
                </a:solidFill>
                <a:latin typeface="Arial"/>
                <a:ea typeface="Arial"/>
                <a:cs typeface="Arial"/>
                <a:sym typeface="Arial"/>
              </a:rPr>
              <a:t>Certificates Earned:</a:t>
            </a:r>
            <a:r>
              <a:rPr lang="en-US" sz="2400" b="0" i="0" u="none" strike="noStrike" cap="none">
                <a:solidFill>
                  <a:srgbClr val="000000"/>
                </a:solidFill>
                <a:latin typeface="Arial"/>
                <a:ea typeface="Arial"/>
                <a:cs typeface="Arial"/>
                <a:sym typeface="Arial"/>
              </a:rPr>
              <a:t>​</a:t>
            </a:r>
            <a:endParaRPr sz="1400" b="0" i="0" u="none" strike="noStrike" cap="none">
              <a:solidFill>
                <a:srgbClr val="000000"/>
              </a:solidFill>
              <a:latin typeface="Arial"/>
              <a:ea typeface="Arial"/>
              <a:cs typeface="Arial"/>
              <a:sym typeface="Arial"/>
            </a:endParaRPr>
          </a:p>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190" name="Google Shape;190;p44"/>
          <p:cNvSpPr txBox="1"/>
          <p:nvPr/>
        </p:nvSpPr>
        <p:spPr>
          <a:xfrm>
            <a:off x="3553855" y="503389"/>
            <a:ext cx="5437681" cy="40011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2000" b="1" i="0" u="none" strike="noStrike" cap="none" dirty="0">
                <a:solidFill>
                  <a:srgbClr val="000000"/>
                </a:solidFill>
                <a:latin typeface="Arial"/>
                <a:ea typeface="Arial"/>
                <a:cs typeface="Arial"/>
                <a:sym typeface="Arial"/>
              </a:rPr>
              <a:t>IBM BOB Certificate</a:t>
            </a:r>
            <a:endParaRPr dirty="0"/>
          </a:p>
        </p:txBody>
      </p:sp>
      <p:pic>
        <p:nvPicPr>
          <p:cNvPr id="3" name="Picture 2">
            <a:extLst>
              <a:ext uri="{FF2B5EF4-FFF2-40B4-BE49-F238E27FC236}">
                <a16:creationId xmlns:a16="http://schemas.microsoft.com/office/drawing/2014/main" id="{20FDE847-FF58-C01B-DF9B-A1664C1CDB9D}"/>
              </a:ext>
            </a:extLst>
          </p:cNvPr>
          <p:cNvPicPr>
            <a:picLocks noChangeAspect="1"/>
          </p:cNvPicPr>
          <p:nvPr/>
        </p:nvPicPr>
        <p:blipFill>
          <a:blip r:embed="rId3"/>
          <a:stretch>
            <a:fillRect/>
          </a:stretch>
        </p:blipFill>
        <p:spPr>
          <a:xfrm>
            <a:off x="275302" y="1081548"/>
            <a:ext cx="11916697" cy="541493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319CE6-872E-706F-F452-4C1FED79CAFE}"/>
              </a:ext>
            </a:extLst>
          </p:cNvPr>
          <p:cNvSpPr>
            <a:spLocks noGrp="1"/>
          </p:cNvSpPr>
          <p:nvPr>
            <p:ph type="title"/>
          </p:nvPr>
        </p:nvSpPr>
        <p:spPr/>
        <p:txBody>
          <a:bodyPr/>
          <a:lstStyle/>
          <a:p>
            <a:endParaRPr lang="en-US"/>
          </a:p>
        </p:txBody>
      </p:sp>
      <p:sp>
        <p:nvSpPr>
          <p:cNvPr id="3" name="Text Placeholder 2">
            <a:extLst>
              <a:ext uri="{FF2B5EF4-FFF2-40B4-BE49-F238E27FC236}">
                <a16:creationId xmlns:a16="http://schemas.microsoft.com/office/drawing/2014/main" id="{282FF2BA-37E3-C0B1-F408-32AF498A0A30}"/>
              </a:ext>
            </a:extLst>
          </p:cNvPr>
          <p:cNvSpPr>
            <a:spLocks noGrp="1"/>
          </p:cNvSpPr>
          <p:nvPr>
            <p:ph type="body" idx="1"/>
          </p:nvPr>
        </p:nvSpPr>
        <p:spPr/>
        <p:txBody>
          <a:bodyPr/>
          <a:lstStyle/>
          <a:p>
            <a:endParaRPr lang="en-US"/>
          </a:p>
        </p:txBody>
      </p:sp>
      <p:pic>
        <p:nvPicPr>
          <p:cNvPr id="5" name="Picture 4">
            <a:extLst>
              <a:ext uri="{FF2B5EF4-FFF2-40B4-BE49-F238E27FC236}">
                <a16:creationId xmlns:a16="http://schemas.microsoft.com/office/drawing/2014/main" id="{E07F40F3-6DC6-0007-D0A7-3D0F168AEB2F}"/>
              </a:ext>
            </a:extLst>
          </p:cNvPr>
          <p:cNvPicPr>
            <a:picLocks noChangeAspect="1"/>
          </p:cNvPicPr>
          <p:nvPr/>
        </p:nvPicPr>
        <p:blipFill>
          <a:blip r:embed="rId2"/>
          <a:stretch>
            <a:fillRect/>
          </a:stretch>
        </p:blipFill>
        <p:spPr>
          <a:xfrm>
            <a:off x="373625" y="275785"/>
            <a:ext cx="11189109" cy="6306430"/>
          </a:xfrm>
          <a:prstGeom prst="rect">
            <a:avLst/>
          </a:prstGeom>
        </p:spPr>
      </p:pic>
    </p:spTree>
    <p:extLst>
      <p:ext uri="{BB962C8B-B14F-4D97-AF65-F5344CB8AC3E}">
        <p14:creationId xmlns:p14="http://schemas.microsoft.com/office/powerpoint/2010/main" val="429164973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94"/>
        <p:cNvGrpSpPr/>
        <p:nvPr/>
      </p:nvGrpSpPr>
      <p:grpSpPr>
        <a:xfrm>
          <a:off x="0" y="0"/>
          <a:ext cx="0" cy="0"/>
          <a:chOff x="0" y="0"/>
          <a:chExt cx="0" cy="0"/>
        </a:xfrm>
      </p:grpSpPr>
      <p:pic>
        <p:nvPicPr>
          <p:cNvPr id="195" name="Google Shape;195;p20"/>
          <p:cNvPicPr preferRelativeResize="0"/>
          <p:nvPr/>
        </p:nvPicPr>
        <p:blipFill rotWithShape="1">
          <a:blip r:embed="rId3">
            <a:alphaModFix/>
          </a:blip>
          <a:srcRect/>
          <a:stretch/>
        </p:blipFill>
        <p:spPr>
          <a:xfrm>
            <a:off x="0" y="2190302"/>
            <a:ext cx="12192000" cy="2477396"/>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1278</Words>
  <Application>Microsoft Office PowerPoint</Application>
  <PresentationFormat>Widescreen</PresentationFormat>
  <Paragraphs>108</Paragraphs>
  <Slides>15</Slides>
  <Notes>14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15</vt:i4>
      </vt:variant>
    </vt:vector>
  </HeadingPairs>
  <TitlesOfParts>
    <vt:vector size="19" baseType="lpstr">
      <vt:lpstr>Arial</vt:lpstr>
      <vt:lpstr>Calibri</vt:lpstr>
      <vt:lpstr>Times New Roman</vt:lpstr>
      <vt:lpstr>Office Theme</vt:lpstr>
      <vt:lpstr>IBM University Engagement Project Submission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Manda Anirudh</dc:creator>
  <cp:lastModifiedBy>Shivaji Cheduruvelli</cp:lastModifiedBy>
  <cp:revision>1</cp:revision>
  <dcterms:created xsi:type="dcterms:W3CDTF">2025-07-08T05:06:56Z</dcterms:created>
  <dcterms:modified xsi:type="dcterms:W3CDTF">2026-07-11T12:55:19Z</dcterms:modified>
</cp:coreProperties>
</file>