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2" roundtripDataSignature="AMtx7mgb3W1nguJpyLvdkVeio7GQyZY/L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063BE5B-8E01-4B91-9C5C-8479B17E1E5F}">
  <a:tblStyle styleId="{F063BE5B-8E01-4B91-9C5C-8479B17E1E5F}"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3" name="Google Shape;93;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9" name="Google Shape;99;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5" name="Google Shape;105;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1" name="Google Shape;111;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3" name="Google Shape;123;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9" name="Google Shape;129;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5" name="Google Shape;135;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2" name="Google Shape;142;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5" name="Google Shape;155;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0" name="Google Shape;170;p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4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4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3" name="Google Shape;193;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 name="Shape 11"/>
        <p:cNvGrpSpPr/>
        <p:nvPr/>
      </p:nvGrpSpPr>
      <p:grpSpPr>
        <a:xfrm>
          <a:off x="0" y="0"/>
          <a:ext cx="0" cy="0"/>
          <a:chOff x="0" y="0"/>
          <a:chExt cx="0" cy="0"/>
        </a:xfrm>
      </p:grpSpPr>
      <p:sp>
        <p:nvSpPr>
          <p:cNvPr id="12" name="Google Shape;12;p2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14" name="Google Shape;14;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3" name="Shape 23"/>
        <p:cNvGrpSpPr/>
        <p:nvPr/>
      </p:nvGrpSpPr>
      <p:grpSpPr>
        <a:xfrm>
          <a:off x="0" y="0"/>
          <a:ext cx="0" cy="0"/>
          <a:chOff x="0" y="0"/>
          <a:chExt cx="0" cy="0"/>
        </a:xfrm>
      </p:grpSpPr>
      <p:sp>
        <p:nvSpPr>
          <p:cNvPr id="24" name="Google Shape;24;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2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7" name="Google Shape;27;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0" name="Shape 30"/>
        <p:cNvGrpSpPr/>
        <p:nvPr/>
      </p:nvGrpSpPr>
      <p:grpSpPr>
        <a:xfrm>
          <a:off x="0" y="0"/>
          <a:ext cx="0" cy="0"/>
          <a:chOff x="0" y="0"/>
          <a:chExt cx="0" cy="0"/>
        </a:xfrm>
      </p:grpSpPr>
      <p:sp>
        <p:nvSpPr>
          <p:cNvPr id="31" name="Google Shape;31;p2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3" name="Google Shape;33;p2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4" name="Google Shape;34;p2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2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4" name="Shape 44"/>
        <p:cNvGrpSpPr/>
        <p:nvPr/>
      </p:nvGrpSpPr>
      <p:grpSpPr>
        <a:xfrm>
          <a:off x="0" y="0"/>
          <a:ext cx="0" cy="0"/>
          <a:chOff x="0" y="0"/>
          <a:chExt cx="0" cy="0"/>
        </a:xfrm>
      </p:grpSpPr>
      <p:sp>
        <p:nvSpPr>
          <p:cNvPr id="45" name="Google Shape;45;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48" name="Shape 48"/>
        <p:cNvGrpSpPr/>
        <p:nvPr/>
      </p:nvGrpSpPr>
      <p:grpSpPr>
        <a:xfrm>
          <a:off x="0" y="0"/>
          <a:ext cx="0" cy="0"/>
          <a:chOff x="0" y="0"/>
          <a:chExt cx="0" cy="0"/>
        </a:xfrm>
      </p:grpSpPr>
      <p:sp>
        <p:nvSpPr>
          <p:cNvPr id="49" name="Google Shape;49;p2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2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1" name="Google Shape;51;p2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2" name="Google Shape;52;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5" name="Shape 55"/>
        <p:cNvGrpSpPr/>
        <p:nvPr/>
      </p:nvGrpSpPr>
      <p:grpSpPr>
        <a:xfrm>
          <a:off x="0" y="0"/>
          <a:ext cx="0" cy="0"/>
          <a:chOff x="0" y="0"/>
          <a:chExt cx="0" cy="0"/>
        </a:xfrm>
      </p:grpSpPr>
      <p:sp>
        <p:nvSpPr>
          <p:cNvPr id="56" name="Google Shape;5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30"/>
          <p:cNvSpPr/>
          <p:nvPr>
            <p:ph idx="2" type="pic"/>
          </p:nvPr>
        </p:nvSpPr>
        <p:spPr>
          <a:xfrm>
            <a:off x="5183188" y="987425"/>
            <a:ext cx="6172200" cy="4873625"/>
          </a:xfrm>
          <a:prstGeom prst="rect">
            <a:avLst/>
          </a:prstGeom>
          <a:noFill/>
          <a:ln>
            <a:noFill/>
          </a:ln>
        </p:spPr>
      </p:sp>
      <p:sp>
        <p:nvSpPr>
          <p:cNvPr id="58" name="Google Shape;58;p3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9" name="Google Shape;59;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2" name="Shape 62"/>
        <p:cNvGrpSpPr/>
        <p:nvPr/>
      </p:nvGrpSpPr>
      <p:grpSpPr>
        <a:xfrm>
          <a:off x="0" y="0"/>
          <a:ext cx="0" cy="0"/>
          <a:chOff x="0" y="0"/>
          <a:chExt cx="0" cy="0"/>
        </a:xfrm>
      </p:grpSpPr>
      <p:sp>
        <p:nvSpPr>
          <p:cNvPr id="63" name="Google Shape;63;p3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3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5" name="Google Shape;65;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68" name="Shape 68"/>
        <p:cNvGrpSpPr/>
        <p:nvPr/>
      </p:nvGrpSpPr>
      <p:grpSpPr>
        <a:xfrm>
          <a:off x="0" y="0"/>
          <a:ext cx="0" cy="0"/>
          <a:chOff x="0" y="0"/>
          <a:chExt cx="0" cy="0"/>
        </a:xfrm>
      </p:grpSpPr>
      <p:sp>
        <p:nvSpPr>
          <p:cNvPr id="69" name="Google Shape;69;p3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3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3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3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33"/>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SzPts val="6000"/>
              <a:buNone/>
            </a:pPr>
            <a:r>
              <a:rPr b="1" lang="en-US" sz="6600"/>
              <a:t>IBM University Engagement Project Submission</a:t>
            </a:r>
            <a:br>
              <a:rPr b="1" lang="en-US"/>
            </a:br>
            <a:endParaRPr/>
          </a:p>
        </p:txBody>
      </p:sp>
      <p:sp>
        <p:nvSpPr>
          <p:cNvPr id="79" name="Google Shape;79;p33"/>
          <p:cNvSpPr txBox="1"/>
          <p:nvPr>
            <p:ph idx="1" type="body"/>
          </p:nvPr>
        </p:nvSpPr>
        <p:spPr>
          <a:xfrm>
            <a:off x="1014730" y="3903663"/>
            <a:ext cx="10515600" cy="1500187"/>
          </a:xfrm>
          <a:prstGeom prst="rect">
            <a:avLst/>
          </a:prstGeom>
          <a:noFill/>
          <a:ln>
            <a:noFill/>
          </a:ln>
        </p:spPr>
        <p:txBody>
          <a:bodyPr anchorCtr="0" anchor="t" bIns="45700" lIns="91425" spcFirstLastPara="1" rIns="91425" wrap="square" tIns="45700">
            <a:normAutofit/>
          </a:bodyPr>
          <a:lstStyle/>
          <a:p>
            <a:pPr indent="-228600" lvl="0" marL="457200" rtl="0" algn="ctr">
              <a:lnSpc>
                <a:spcPct val="90000"/>
              </a:lnSpc>
              <a:spcBef>
                <a:spcPts val="1000"/>
              </a:spcBef>
              <a:spcAft>
                <a:spcPts val="0"/>
              </a:spcAft>
              <a:buSzPts val="2400"/>
              <a:buNone/>
            </a:pPr>
            <a:r>
              <a:rPr b="1" i="1" lang="en-US"/>
              <a:t>“Exploring the Power of Agentic AI with IBM Granite and LangFlow”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chemeClr val="dk1"/>
              </a:buClr>
              <a:buSzPts val="1500"/>
              <a:buFont typeface="Calibri"/>
              <a:buNone/>
            </a:pPr>
            <a:r>
              <a:t/>
            </a:r>
            <a:endParaRPr b="0" i="0" sz="1500" u="none" cap="none" strike="noStrik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Clr>
                <a:srgbClr val="002060"/>
              </a:buClr>
              <a:buSzPts val="3200"/>
              <a:buFont typeface="Times New Roman"/>
              <a:buNone/>
            </a:pPr>
            <a:r>
              <a:t/>
            </a:r>
            <a:endParaRPr b="1" i="0" sz="3200" u="none" cap="none" strike="noStrike">
              <a:solidFill>
                <a:srgbClr val="002060"/>
              </a:solidFill>
              <a:latin typeface="Times New Roman"/>
              <a:ea typeface="Times New Roman"/>
              <a:cs typeface="Times New Roman"/>
              <a:sym typeface="Times New Roman"/>
            </a:endParaRPr>
          </a:p>
        </p:txBody>
      </p:sp>
      <p:graphicFrame>
        <p:nvGraphicFramePr>
          <p:cNvPr id="86" name="Google Shape;86;p2"/>
          <p:cNvGraphicFramePr/>
          <p:nvPr/>
        </p:nvGraphicFramePr>
        <p:xfrm>
          <a:off x="1299257" y="2600315"/>
          <a:ext cx="3000000" cy="3000000"/>
        </p:xfrm>
        <a:graphic>
          <a:graphicData uri="http://schemas.openxmlformats.org/drawingml/2006/table">
            <a:tbl>
              <a:tblPr>
                <a:noFill/>
                <a:tableStyleId>{F063BE5B-8E01-4B91-9C5C-8479B17E1E5F}</a:tableStyleId>
              </a:tblPr>
              <a:tblGrid>
                <a:gridCol w="2064875"/>
                <a:gridCol w="2443375"/>
                <a:gridCol w="2443375"/>
                <a:gridCol w="2443375"/>
              </a:tblGrid>
              <a:tr h="973225">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t>Student Name</a:t>
                      </a:r>
                      <a:endParaRPr sz="1800" u="none" cap="none" strike="noStrike"/>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t>Recent Passport Photo</a:t>
                      </a:r>
                      <a:endParaRPr sz="1800" u="none" cap="none" strike="noStrike"/>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c>
                  <a:txBody>
                    <a:bodyPr/>
                    <a:lstStyle/>
                    <a:p>
                      <a:pPr indent="0" lvl="0" marL="0" marR="0" rtl="0" algn="ctr">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Arial"/>
                          <a:ea typeface="Arial"/>
                          <a:cs typeface="Arial"/>
                          <a:sym typeface="Arial"/>
                        </a:rPr>
                        <a:t>Email ID </a:t>
                      </a:r>
                      <a:endParaRPr b="0" i="0" sz="1800" u="none" cap="none" strike="noStrike">
                        <a:solidFill>
                          <a:srgbClr val="000000"/>
                        </a:solidFill>
                        <a:latin typeface="Arial"/>
                        <a:ea typeface="Arial"/>
                        <a:cs typeface="Arial"/>
                        <a:sym typeface="Arial"/>
                      </a:endParaRPr>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c>
                  <a:txBody>
                    <a:bodyPr/>
                    <a:lstStyle/>
                    <a:p>
                      <a:pPr indent="0" lvl="0" marL="0" marR="0" rtl="0" algn="ctr">
                        <a:lnSpc>
                          <a:spcPct val="100000"/>
                        </a:lnSpc>
                        <a:spcBef>
                          <a:spcPts val="0"/>
                        </a:spcBef>
                        <a:spcAft>
                          <a:spcPts val="0"/>
                        </a:spcAft>
                        <a:buClr>
                          <a:schemeClr val="lt1"/>
                        </a:buClr>
                        <a:buSzPts val="1800"/>
                        <a:buFont typeface="Calibri"/>
                        <a:buNone/>
                      </a:pPr>
                      <a:r>
                        <a:rPr b="0" i="0" lang="en-US" sz="1800" u="none" cap="none" strike="noStrike">
                          <a:solidFill>
                            <a:srgbClr val="000000"/>
                          </a:solidFill>
                          <a:latin typeface="Arial"/>
                          <a:ea typeface="Arial"/>
                          <a:cs typeface="Arial"/>
                          <a:sym typeface="Arial"/>
                        </a:rPr>
                        <a:t>Mobile number</a:t>
                      </a:r>
                      <a:endParaRPr b="0" i="0" sz="18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chemeClr val="lt1"/>
                        </a:buClr>
                        <a:buSzPts val="1800"/>
                        <a:buFont typeface="Calibri"/>
                        <a:buNone/>
                      </a:pPr>
                      <a:r>
                        <a:rPr b="0" i="0" lang="en-US" sz="1800" u="none" cap="none" strike="noStrike">
                          <a:solidFill>
                            <a:srgbClr val="000000"/>
                          </a:solidFill>
                          <a:latin typeface="Arial"/>
                          <a:ea typeface="Arial"/>
                          <a:cs typeface="Arial"/>
                          <a:sym typeface="Arial"/>
                        </a:rPr>
                        <a:t>[WhatsApp] </a:t>
                      </a:r>
                      <a:endParaRPr b="0" i="0" sz="1800" u="none" cap="none" strike="noStrike">
                        <a:solidFill>
                          <a:srgbClr val="000000"/>
                        </a:solidFill>
                        <a:latin typeface="Arial"/>
                        <a:ea typeface="Arial"/>
                        <a:cs typeface="Arial"/>
                        <a:sym typeface="Arial"/>
                      </a:endParaRPr>
                    </a:p>
                  </a:txBody>
                  <a:tcPr marT="45725" marB="45725" marR="91450" marL="9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5B9BD5"/>
                    </a:solidFill>
                  </a:tcPr>
                </a:tc>
              </a:tr>
              <a:tr h="11939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c>
                  <a:txBody>
                    <a:bodyPr/>
                    <a:lstStyle/>
                    <a:p>
                      <a:pPr indent="0" lvl="0" marL="0" marR="0" rtl="0" algn="l">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D0DEEF"/>
                    </a:solidFill>
                  </a:tcPr>
                </a:tc>
              </a:tr>
            </a:tbl>
          </a:graphicData>
        </a:graphic>
      </p:graphicFrame>
      <p:pic>
        <p:nvPicPr>
          <p:cNvPr id="87" name="Google Shape;87;p2"/>
          <p:cNvPicPr preferRelativeResize="0"/>
          <p:nvPr/>
        </p:nvPicPr>
        <p:blipFill rotWithShape="1">
          <a:blip r:embed="rId3">
            <a:alphaModFix/>
          </a:blip>
          <a:srcRect b="0" l="0" r="0" t="0"/>
          <a:stretch/>
        </p:blipFill>
        <p:spPr>
          <a:xfrm>
            <a:off x="4053024" y="3738417"/>
            <a:ext cx="762500" cy="801811"/>
          </a:xfrm>
          <a:prstGeom prst="rect">
            <a:avLst/>
          </a:prstGeom>
          <a:noFill/>
          <a:ln>
            <a:noFill/>
          </a:ln>
        </p:spPr>
      </p:pic>
      <p:sp>
        <p:nvSpPr>
          <p:cNvPr id="88" name="Google Shape;88;p2"/>
          <p:cNvSpPr txBox="1"/>
          <p:nvPr/>
        </p:nvSpPr>
        <p:spPr>
          <a:xfrm>
            <a:off x="1206164" y="1460724"/>
            <a:ext cx="10280254"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Domain of Project – Healthcare</a:t>
            </a:r>
            <a:r>
              <a:rPr b="1" i="0" lang="en-US" sz="2400" u="none" cap="none" strike="noStrike">
                <a:solidFill>
                  <a:srgbClr val="000000"/>
                </a:solidFill>
                <a:highlight>
                  <a:srgbClr val="FFFF00"/>
                </a:highlight>
                <a:latin typeface="Arial"/>
                <a:ea typeface="Arial"/>
                <a:cs typeface="Arial"/>
                <a:sym typeface="Arial"/>
              </a:rPr>
              <a:t/>
            </a:r>
            <a:endParaRPr b="1" i="0" sz="2400" u="none" cap="none" strike="noStrike">
              <a:solidFill>
                <a:srgbClr val="000000"/>
              </a:solidFill>
              <a:highlight>
                <a:srgbClr val="FFFF00"/>
              </a:highlight>
              <a:latin typeface="Arial"/>
              <a:ea typeface="Arial"/>
              <a:cs typeface="Arial"/>
              <a:sym typeface="Arial"/>
            </a:endParaRPr>
          </a:p>
        </p:txBody>
      </p:sp>
      <p:sp>
        <p:nvSpPr>
          <p:cNvPr id="89" name="Google Shape;89;p2"/>
          <p:cNvSpPr txBox="1"/>
          <p:nvPr/>
        </p:nvSpPr>
        <p:spPr>
          <a:xfrm>
            <a:off x="1206162" y="551965"/>
            <a:ext cx="9581177"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Project Title – SmartBite: Personalized AI Nutrition Agent</a:t>
            </a:r>
            <a:r>
              <a:rPr b="1" i="0" lang="en-US" sz="2400" u="none" cap="none" strike="noStrike">
                <a:solidFill>
                  <a:srgbClr val="000000"/>
                </a:solidFill>
                <a:highlight>
                  <a:srgbClr val="FFFF00"/>
                </a:highlight>
                <a:latin typeface="Arial"/>
                <a:ea typeface="Arial"/>
                <a:cs typeface="Arial"/>
                <a:sym typeface="Arial"/>
              </a:rPr>
              <a:t/>
            </a:r>
            <a:r>
              <a:rPr b="1" i="0" lang="en-US" sz="2400" u="none" cap="none" strike="noStrike">
                <a:solidFill>
                  <a:srgbClr val="002060"/>
                </a:solidFill>
                <a:highlight>
                  <a:srgbClr val="FFFF00"/>
                </a:highlight>
                <a:latin typeface="Times New Roman"/>
                <a:ea typeface="Times New Roman"/>
                <a:cs typeface="Times New Roman"/>
                <a:sym typeface="Times New Roman"/>
              </a:rPr>
              <a:t/>
            </a:r>
            <a:r>
              <a:rPr b="1" i="0" lang="en-US" sz="2400" u="none" cap="none" strike="noStrike">
                <a:solidFill>
                  <a:srgbClr val="000000"/>
                </a:solidFill>
                <a:highlight>
                  <a:srgbClr val="FFFF00"/>
                </a:highlight>
                <a:latin typeface="Arial"/>
                <a:ea typeface="Arial"/>
                <a:cs typeface="Arial"/>
                <a:sym typeface="Arial"/>
              </a:rPr>
              <a:t/>
            </a:r>
            <a:endParaRPr b="1" i="0" sz="2400" u="none" cap="none" strike="noStrike">
              <a:solidFill>
                <a:srgbClr val="000000"/>
              </a:solidFill>
              <a:highlight>
                <a:srgbClr val="FFFF00"/>
              </a:highlight>
              <a:latin typeface="Arial"/>
              <a:ea typeface="Arial"/>
              <a:cs typeface="Arial"/>
              <a:sym typeface="Arial"/>
            </a:endParaRPr>
          </a:p>
        </p:txBody>
      </p:sp>
      <p:sp>
        <p:nvSpPr>
          <p:cNvPr id="90" name="Google Shape;90;p2"/>
          <p:cNvSpPr txBox="1"/>
          <p:nvPr/>
        </p:nvSpPr>
        <p:spPr>
          <a:xfrm>
            <a:off x="1211005" y="5210667"/>
            <a:ext cx="6456743" cy="163121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FF0000"/>
                </a:solidFill>
                <a:latin typeface="Arial"/>
                <a:ea typeface="Arial"/>
                <a:cs typeface="Arial"/>
                <a:sym typeface="Arial"/>
              </a:rPr>
              <a:t>Recommended font style and size:</a:t>
            </a:r>
            <a:br>
              <a:rPr b="0" i="0" lang="en-US" sz="2000" u="none" cap="none" strike="noStrike">
                <a:solidFill>
                  <a:srgbClr val="FF0000"/>
                </a:solidFill>
                <a:latin typeface="Arial"/>
                <a:ea typeface="Arial"/>
                <a:cs typeface="Arial"/>
                <a:sym typeface="Arial"/>
              </a:rPr>
            </a:br>
            <a:br>
              <a:rPr b="0" i="0" lang="en-US" sz="2000" u="none" cap="none" strike="noStrike">
                <a:solidFill>
                  <a:srgbClr val="000000"/>
                </a:solidFill>
                <a:latin typeface="Arial"/>
                <a:ea typeface="Arial"/>
                <a:cs typeface="Arial"/>
                <a:sym typeface="Arial"/>
              </a:rPr>
            </a:br>
            <a:r>
              <a:rPr b="0" i="0" lang="en-US" sz="2000" u="none" cap="none" strike="noStrike">
                <a:solidFill>
                  <a:srgbClr val="FF0000"/>
                </a:solidFill>
                <a:latin typeface="Arial"/>
                <a:ea typeface="Arial"/>
                <a:cs typeface="Arial"/>
                <a:sym typeface="Arial"/>
              </a:rPr>
              <a:t>Font Style: Arial</a:t>
            </a:r>
            <a:br>
              <a:rPr b="0" i="0" lang="en-US" sz="2000" u="none" cap="none" strike="noStrike">
                <a:solidFill>
                  <a:srgbClr val="FF0000"/>
                </a:solidFill>
                <a:latin typeface="Arial"/>
                <a:ea typeface="Arial"/>
                <a:cs typeface="Arial"/>
                <a:sym typeface="Arial"/>
              </a:rPr>
            </a:br>
            <a:r>
              <a:rPr b="0" i="0" lang="en-US" sz="2000" u="none" cap="none" strike="noStrike">
                <a:solidFill>
                  <a:srgbClr val="FF0000"/>
                </a:solidFill>
                <a:latin typeface="Arial"/>
                <a:ea typeface="Arial"/>
                <a:cs typeface="Arial"/>
                <a:sym typeface="Arial"/>
              </a:rPr>
              <a:t>Font Size (Heading): 28</a:t>
            </a:r>
            <a:endParaRPr/>
          </a:p>
          <a:p>
            <a:pPr indent="0" lvl="0" marL="0" marR="0" rtl="0" algn="l">
              <a:lnSpc>
                <a:spcPct val="100000"/>
              </a:lnSpc>
              <a:spcBef>
                <a:spcPts val="0"/>
              </a:spcBef>
              <a:spcAft>
                <a:spcPts val="0"/>
              </a:spcAft>
              <a:buNone/>
            </a:pPr>
            <a:r>
              <a:rPr b="0" i="0" lang="en-US" sz="2000" u="none" cap="none" strike="noStrike">
                <a:solidFill>
                  <a:srgbClr val="FF0000"/>
                </a:solidFill>
                <a:latin typeface="Arial"/>
                <a:ea typeface="Arial"/>
                <a:cs typeface="Arial"/>
                <a:sym typeface="Arial"/>
              </a:rPr>
              <a:t>Font Size (Content): 20</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34"/>
          <p:cNvSpPr txBox="1"/>
          <p:nvPr/>
        </p:nvSpPr>
        <p:spPr>
          <a:xfrm>
            <a:off x="576072" y="1234440"/>
            <a:ext cx="10607040" cy="504753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Problem Statement : Nutrition Agent</a:t>
            </a:r>
            <a:r>
              <a:rPr b="0" i="0" lang="en-US" sz="1400" u="none" cap="none" strike="noStrike">
                <a:solidFill>
                  <a:srgbClr val="000000"/>
                </a:solidFill>
                <a:latin typeface="Arial"/>
                <a:ea typeface="Arial"/>
                <a:cs typeface="Arial"/>
                <a:sym typeface="Arial"/>
              </a:rPr>
              <a:t> </a:t>
            </a:r>
            <a:endParaRPr/>
          </a:p>
          <a:p>
            <a:pPr indent="0" lvl="0" marL="0" marR="0" rtl="0" algn="l">
              <a:lnSpc>
                <a:spcPct val="100000"/>
              </a:lnSpc>
              <a:spcBef>
                <a:spcPts val="0"/>
              </a:spcBef>
              <a:spcAft>
                <a:spcPts val="0"/>
              </a:spcAft>
              <a:buNone/>
            </a:pPr>
            <a:r>
              <a:t/>
            </a:r>
            <a:endParaRPr b="1"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The Challenge</a:t>
            </a:r>
            <a:r>
              <a:rPr b="0" i="0" lang="en-US" sz="1400" u="none" cap="none" strike="noStrike">
                <a:solidFill>
                  <a:srgbClr val="000000"/>
                </a:solidFill>
                <a:latin typeface="Arial"/>
                <a:ea typeface="Arial"/>
                <a:cs typeface="Arial"/>
                <a:sym typeface="Arial"/>
              </a:rPr>
              <a:t> </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Good nutrition is the foundation of health, but individuals often struggle with </a:t>
            </a:r>
            <a:r>
              <a:rPr b="1" i="0" lang="en-US" sz="1400" u="none" cap="none" strike="noStrike">
                <a:solidFill>
                  <a:srgbClr val="000000"/>
                </a:solidFill>
                <a:latin typeface="Arial"/>
                <a:ea typeface="Arial"/>
                <a:cs typeface="Arial"/>
                <a:sym typeface="Arial"/>
              </a:rPr>
              <a:t>diet planning, portion control, and tracking nutritional intake</a:t>
            </a:r>
            <a:r>
              <a:rPr b="0" i="0" lang="en-US" sz="1400" u="none" cap="none" strike="noStrike">
                <a:solidFill>
                  <a:srgbClr val="000000"/>
                </a:solidFill>
                <a:latin typeface="Arial"/>
                <a:ea typeface="Arial"/>
                <a:cs typeface="Arial"/>
                <a:sym typeface="Arial"/>
              </a:rPr>
              <a:t>. Information about healthy diets, disease-specific nutrition, and food composition is scattered across unreliable sources. Without </a:t>
            </a:r>
            <a:r>
              <a:rPr b="1" i="0" lang="en-US" sz="1400" u="none" cap="none" strike="noStrike">
                <a:solidFill>
                  <a:srgbClr val="000000"/>
                </a:solidFill>
                <a:latin typeface="Arial"/>
                <a:ea typeface="Arial"/>
                <a:cs typeface="Arial"/>
                <a:sym typeface="Arial"/>
              </a:rPr>
              <a:t>personalized, real-time guidance</a:t>
            </a:r>
            <a:r>
              <a:rPr b="0" i="0" lang="en-US" sz="1400" u="none" cap="none" strike="noStrike">
                <a:solidFill>
                  <a:srgbClr val="000000"/>
                </a:solidFill>
                <a:latin typeface="Arial"/>
                <a:ea typeface="Arial"/>
                <a:cs typeface="Arial"/>
                <a:sym typeface="Arial"/>
              </a:rPr>
              <a:t>, many fail to maintain balanced diets or make informed food choices. </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The Objective</a:t>
            </a:r>
            <a:r>
              <a:rPr b="0" i="0" lang="en-US" sz="1400" u="none" cap="none" strike="noStrike">
                <a:solidFill>
                  <a:srgbClr val="000000"/>
                </a:solidFill>
                <a:latin typeface="Arial"/>
                <a:ea typeface="Arial"/>
                <a:cs typeface="Arial"/>
                <a:sym typeface="Arial"/>
              </a:rPr>
              <a:t> </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Build an </a:t>
            </a:r>
            <a:r>
              <a:rPr b="1" i="0" lang="en-US" sz="1400" u="none" cap="none" strike="noStrike">
                <a:solidFill>
                  <a:srgbClr val="000000"/>
                </a:solidFill>
                <a:latin typeface="Arial"/>
                <a:ea typeface="Arial"/>
                <a:cs typeface="Arial"/>
                <a:sym typeface="Arial"/>
              </a:rPr>
              <a:t>AI-powered Nutrition Agent</a:t>
            </a:r>
            <a:r>
              <a:rPr b="0" i="0" lang="en-US" sz="1400" u="none" cap="none" strike="noStrike">
                <a:solidFill>
                  <a:srgbClr val="000000"/>
                </a:solidFill>
                <a:latin typeface="Arial"/>
                <a:ea typeface="Arial"/>
                <a:cs typeface="Arial"/>
                <a:sym typeface="Arial"/>
              </a:rPr>
              <a:t> that delivers </a:t>
            </a:r>
            <a:r>
              <a:rPr b="1" i="0" lang="en-US" sz="1400" u="none" cap="none" strike="noStrike">
                <a:solidFill>
                  <a:srgbClr val="000000"/>
                </a:solidFill>
                <a:latin typeface="Arial"/>
                <a:ea typeface="Arial"/>
                <a:cs typeface="Arial"/>
                <a:sym typeface="Arial"/>
              </a:rPr>
              <a:t>personalized dietary insights and guidance</a:t>
            </a:r>
            <a:r>
              <a:rPr b="0" i="0" lang="en-US" sz="1400" u="none" cap="none" strike="noStrike">
                <a:solidFill>
                  <a:srgbClr val="000000"/>
                </a:solidFill>
                <a:latin typeface="Arial"/>
                <a:ea typeface="Arial"/>
                <a:cs typeface="Arial"/>
                <a:sym typeface="Arial"/>
              </a:rPr>
              <a:t> for individuals, families, and health professionals. The solution should: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Personalized Diet Plans</a:t>
            </a:r>
            <a:r>
              <a:rPr b="0" i="0" lang="en-US" sz="1400" u="none" cap="none" strike="noStrike">
                <a:solidFill>
                  <a:srgbClr val="000000"/>
                </a:solidFill>
                <a:latin typeface="Arial"/>
                <a:ea typeface="Arial"/>
                <a:cs typeface="Arial"/>
                <a:sym typeface="Arial"/>
              </a:rPr>
              <a:t> – Recommend meals based on age, health conditions, allergies, cultural preferences, and fitness goals.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Food Data RAG Retrieval</a:t>
            </a:r>
            <a:r>
              <a:rPr b="0" i="0" lang="en-US" sz="1400" u="none" cap="none" strike="noStrike">
                <a:solidFill>
                  <a:srgbClr val="000000"/>
                </a:solidFill>
                <a:latin typeface="Arial"/>
                <a:ea typeface="Arial"/>
                <a:cs typeface="Arial"/>
                <a:sym typeface="Arial"/>
              </a:rPr>
              <a:t> – Fetch and summarize nutritional values (calories, macros, vitamins) from reliable sources.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Diet Tracking &amp; Feedback</a:t>
            </a:r>
            <a:r>
              <a:rPr b="0" i="0" lang="en-US" sz="1400" u="none" cap="none" strike="noStrike">
                <a:solidFill>
                  <a:srgbClr val="000000"/>
                </a:solidFill>
                <a:latin typeface="Arial"/>
                <a:ea typeface="Arial"/>
                <a:cs typeface="Arial"/>
                <a:sym typeface="Arial"/>
              </a:rPr>
              <a:t> – Allow users to log meals via text, images, or voice, and provide instant nutritional analysis.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Preventive Health Focus</a:t>
            </a:r>
            <a:r>
              <a:rPr b="0" i="0" lang="en-US" sz="1400" u="none" cap="none" strike="noStrike">
                <a:solidFill>
                  <a:srgbClr val="000000"/>
                </a:solidFill>
                <a:latin typeface="Arial"/>
                <a:ea typeface="Arial"/>
                <a:cs typeface="Arial"/>
                <a:sym typeface="Arial"/>
              </a:rPr>
              <a:t> – Suggest diets for chronic disease management (e.g., diabetes-friendly or heart-healthy plans).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Multi-Agent System</a:t>
            </a:r>
            <a:r>
              <a:rPr b="0" i="0" lang="en-US" sz="1400" u="none" cap="none" strike="noStrike">
                <a:solidFill>
                  <a:srgbClr val="000000"/>
                </a:solidFill>
                <a:latin typeface="Arial"/>
                <a:ea typeface="Arial"/>
                <a:cs typeface="Arial"/>
                <a:sym typeface="Arial"/>
              </a:rPr>
              <a:t> –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Nutrition Knowledge Agent</a:t>
            </a:r>
            <a:r>
              <a:rPr b="0" i="0" lang="en-US" sz="1400" u="none" cap="none" strike="noStrike">
                <a:solidFill>
                  <a:srgbClr val="000000"/>
                </a:solidFill>
                <a:latin typeface="Arial"/>
                <a:ea typeface="Arial"/>
                <a:cs typeface="Arial"/>
                <a:sym typeface="Arial"/>
              </a:rPr>
              <a:t> (fetches nutritional data)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Diet Recommendation Agent</a:t>
            </a:r>
            <a:r>
              <a:rPr b="0" i="0" lang="en-US" sz="1400" u="none" cap="none" strike="noStrike">
                <a:solidFill>
                  <a:srgbClr val="000000"/>
                </a:solidFill>
                <a:latin typeface="Arial"/>
                <a:ea typeface="Arial"/>
                <a:cs typeface="Arial"/>
                <a:sym typeface="Arial"/>
              </a:rPr>
              <a:t> (personalized meal plans)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Health Advisory Agent</a:t>
            </a:r>
            <a:r>
              <a:rPr b="0" i="0" lang="en-US" sz="1400" u="none" cap="none" strike="noStrike">
                <a:solidFill>
                  <a:srgbClr val="000000"/>
                </a:solidFill>
                <a:latin typeface="Arial"/>
                <a:ea typeface="Arial"/>
                <a:cs typeface="Arial"/>
                <a:sym typeface="Arial"/>
              </a:rPr>
              <a:t> (preventive health suggestions)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Food Log &amp; Feedback Agent</a:t>
            </a:r>
            <a:r>
              <a:rPr b="0" i="0" lang="en-US" sz="1400" u="none" cap="none" strike="noStrike">
                <a:solidFill>
                  <a:srgbClr val="000000"/>
                </a:solidFill>
                <a:latin typeface="Arial"/>
                <a:ea typeface="Arial"/>
                <a:cs typeface="Arial"/>
                <a:sym typeface="Arial"/>
              </a:rPr>
              <a:t> (meal tracking + analysis) </a:t>
            </a:r>
            <a:endParaRPr/>
          </a:p>
          <a:p>
            <a:pPr indent="-285750" lvl="0" marL="28575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Visualization Dashboard</a:t>
            </a:r>
            <a:r>
              <a:rPr b="0" i="0" lang="en-US" sz="1400" u="none" cap="none" strike="noStrike">
                <a:solidFill>
                  <a:srgbClr val="000000"/>
                </a:solidFill>
                <a:latin typeface="Arial"/>
                <a:ea typeface="Arial"/>
                <a:cs typeface="Arial"/>
                <a:sym typeface="Arial"/>
              </a:rPr>
              <a:t> – Show daily/weekly nutrient intake, deficiencies, and progress toward health goals. </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6" name="Google Shape;96;p34"/>
          <p:cNvSpPr txBox="1"/>
          <p:nvPr/>
        </p:nvSpPr>
        <p:spPr>
          <a:xfrm>
            <a:off x="576072" y="704088"/>
            <a:ext cx="721461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Problem Statement -</a:t>
            </a:r>
            <a:endParaRPr b="1" i="0" sz="2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35"/>
          <p:cNvSpPr txBox="1"/>
          <p:nvPr/>
        </p:nvSpPr>
        <p:spPr>
          <a:xfrm>
            <a:off x="455468" y="1168656"/>
            <a:ext cx="10607040" cy="526297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1"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Proposed Solution: AI-Powered Nutrition Agent</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The proposed solution is a </a:t>
            </a:r>
            <a:r>
              <a:rPr b="1" i="0" lang="en-US" sz="1400" u="none" cap="none" strike="noStrike">
                <a:solidFill>
                  <a:srgbClr val="000000"/>
                </a:solidFill>
                <a:latin typeface="Arial"/>
                <a:ea typeface="Arial"/>
                <a:cs typeface="Arial"/>
                <a:sym typeface="Arial"/>
              </a:rPr>
              <a:t>multi-agent AI-powered Nutrition Agent</a:t>
            </a:r>
            <a:r>
              <a:rPr b="0" i="0" lang="en-US" sz="1400" u="none" cap="none" strike="noStrike">
                <a:solidFill>
                  <a:srgbClr val="000000"/>
                </a:solidFill>
                <a:latin typeface="Arial"/>
                <a:ea typeface="Arial"/>
                <a:cs typeface="Arial"/>
                <a:sym typeface="Arial"/>
              </a:rPr>
              <a:t> built using </a:t>
            </a:r>
            <a:r>
              <a:rPr b="1" i="0" lang="en-US" sz="1400" u="none" cap="none" strike="noStrike">
                <a:solidFill>
                  <a:srgbClr val="000000"/>
                </a:solidFill>
                <a:latin typeface="Arial"/>
                <a:ea typeface="Arial"/>
                <a:cs typeface="Arial"/>
                <a:sym typeface="Arial"/>
              </a:rPr>
              <a:t>LangFlow, IBM watsonx.ai, and Granite Models</a:t>
            </a:r>
            <a:r>
              <a:rPr b="0" i="0" lang="en-US" sz="1400" u="none" cap="none" strike="noStrike">
                <a:solidFill>
                  <a:srgbClr val="000000"/>
                </a:solidFill>
                <a:latin typeface="Arial"/>
                <a:ea typeface="Arial"/>
                <a:cs typeface="Arial"/>
                <a:sym typeface="Arial"/>
              </a:rPr>
              <a:t> to provide personalized, real-time dietary guidance. The system addresses challenges in diet planning, nutrition tracking, and preventive healthcare through an intelligent, modular architecture.</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At its core, the solution uses a </a:t>
            </a:r>
            <a:r>
              <a:rPr b="1" i="0" lang="en-US" sz="1400" u="none" cap="none" strike="noStrike">
                <a:solidFill>
                  <a:srgbClr val="000000"/>
                </a:solidFill>
                <a:latin typeface="Arial"/>
                <a:ea typeface="Arial"/>
                <a:cs typeface="Arial"/>
                <a:sym typeface="Arial"/>
              </a:rPr>
              <a:t>Retrieval-Augmented Generation (RAG)</a:t>
            </a:r>
            <a:r>
              <a:rPr b="0" i="0" lang="en-US" sz="1400" u="none" cap="none" strike="noStrike">
                <a:solidFill>
                  <a:srgbClr val="000000"/>
                </a:solidFill>
                <a:latin typeface="Arial"/>
                <a:ea typeface="Arial"/>
                <a:cs typeface="Arial"/>
                <a:sym typeface="Arial"/>
              </a:rPr>
              <a:t> pipeline to fetch accurate nutritional data from trusted sources such as USDA and WHO datasets. This data is embedded and stored in a vector database, enabling the system to retrieve and summarize food nutrition details (calories, macros, vitamins) using Granite models.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The system consists of four key agents:</a:t>
            </a:r>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Nutrition Knowledge Agent</a:t>
            </a:r>
            <a:r>
              <a:rPr b="0" i="0" lang="en-US" sz="1400" u="none" cap="none" strike="noStrike">
                <a:solidFill>
                  <a:srgbClr val="000000"/>
                </a:solidFill>
                <a:latin typeface="Arial"/>
                <a:ea typeface="Arial"/>
                <a:cs typeface="Arial"/>
                <a:sym typeface="Arial"/>
              </a:rPr>
              <a:t> retrieves and summarizes nutritional information using RAG. </a:t>
            </a:r>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Diet Recommendation Agent</a:t>
            </a:r>
            <a:r>
              <a:rPr b="0" i="0" lang="en-US" sz="1400" u="none" cap="none" strike="noStrike">
                <a:solidFill>
                  <a:srgbClr val="000000"/>
                </a:solidFill>
                <a:latin typeface="Arial"/>
                <a:ea typeface="Arial"/>
                <a:cs typeface="Arial"/>
                <a:sym typeface="Arial"/>
              </a:rPr>
              <a:t> generates personalized meal plans based on user inputs such as age, health conditions, dietary preferences, and fitness goals. </a:t>
            </a:r>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Health Advisory Agent</a:t>
            </a:r>
            <a:r>
              <a:rPr b="0" i="0" lang="en-US" sz="1400" u="none" cap="none" strike="noStrike">
                <a:solidFill>
                  <a:srgbClr val="000000"/>
                </a:solidFill>
                <a:latin typeface="Arial"/>
                <a:ea typeface="Arial"/>
                <a:cs typeface="Arial"/>
                <a:sym typeface="Arial"/>
              </a:rPr>
              <a:t> provides preventive health suggestions, including disease-specific diets (e.g., diabetes-friendly or heart-healthy plans). </a:t>
            </a:r>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Food Log &amp; Feedback Agent</a:t>
            </a:r>
            <a:r>
              <a:rPr b="0" i="0" lang="en-US" sz="1400" u="none" cap="none" strike="noStrike">
                <a:solidFill>
                  <a:srgbClr val="000000"/>
                </a:solidFill>
                <a:latin typeface="Arial"/>
                <a:ea typeface="Arial"/>
                <a:cs typeface="Arial"/>
                <a:sym typeface="Arial"/>
              </a:rPr>
              <a:t> allows users to log meals via text, voice, or images and delivers instant nutritional analysis with actionable feedback. </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The solution includes a </a:t>
            </a:r>
            <a:r>
              <a:rPr b="1" i="0" lang="en-US" sz="1400" u="none" cap="none" strike="noStrike">
                <a:solidFill>
                  <a:srgbClr val="000000"/>
                </a:solidFill>
                <a:latin typeface="Arial"/>
                <a:ea typeface="Arial"/>
                <a:cs typeface="Arial"/>
                <a:sym typeface="Arial"/>
              </a:rPr>
              <a:t>user-friendly dashboard</a:t>
            </a:r>
            <a:r>
              <a:rPr b="0" i="0" lang="en-US" sz="1400" u="none" cap="none" strike="noStrike">
                <a:solidFill>
                  <a:srgbClr val="000000"/>
                </a:solidFill>
                <a:latin typeface="Arial"/>
                <a:ea typeface="Arial"/>
                <a:cs typeface="Arial"/>
                <a:sym typeface="Arial"/>
              </a:rPr>
              <a:t> (built with Streamlit or React) that visualizes daily and weekly nutrient intake, highlights deficiencies, and tracks progress toward health goals.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LangFlow is used to orchestrate agent workflows, while watsonx.ai ensures scalable model deployment, embeddings, and AI governance. Granite models power reasoning, summarization, and personalization.</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Overall, this solution delivers an </a:t>
            </a:r>
            <a:r>
              <a:rPr b="1" i="0" lang="en-US" sz="1400" u="none" cap="none" strike="noStrike">
                <a:solidFill>
                  <a:srgbClr val="000000"/>
                </a:solidFill>
                <a:latin typeface="Arial"/>
                <a:ea typeface="Arial"/>
                <a:cs typeface="Arial"/>
                <a:sym typeface="Arial"/>
              </a:rPr>
              <a:t>end-to-end intelligent nutrition assistant</a:t>
            </a:r>
            <a:r>
              <a:rPr b="0" i="0" lang="en-US" sz="1400" u="none" cap="none" strike="noStrike">
                <a:solidFill>
                  <a:srgbClr val="000000"/>
                </a:solidFill>
                <a:latin typeface="Arial"/>
                <a:ea typeface="Arial"/>
                <a:cs typeface="Arial"/>
                <a:sym typeface="Arial"/>
              </a:rPr>
              <a:t> that promotes healthier lifestyles through personalized insights, real-time feedback, and preventive healthcare recommendations.</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2" name="Google Shape;102;p35"/>
          <p:cNvSpPr txBox="1"/>
          <p:nvPr/>
        </p:nvSpPr>
        <p:spPr>
          <a:xfrm>
            <a:off x="576072" y="704088"/>
            <a:ext cx="721461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Proposed Solution -</a:t>
            </a:r>
            <a:endParaRPr b="1" i="0" sz="2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6"/>
          <p:cNvSpPr txBox="1"/>
          <p:nvPr/>
        </p:nvSpPr>
        <p:spPr>
          <a:xfrm>
            <a:off x="777240" y="484632"/>
            <a:ext cx="712317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Technology Used</a:t>
            </a:r>
            <a:endParaRPr b="1" i="0" sz="2400" u="none" cap="none" strike="noStrike">
              <a:solidFill>
                <a:srgbClr val="000000"/>
              </a:solidFill>
              <a:latin typeface="Arial"/>
              <a:ea typeface="Arial"/>
              <a:cs typeface="Arial"/>
              <a:sym typeface="Arial"/>
            </a:endParaRPr>
          </a:p>
        </p:txBody>
      </p:sp>
      <p:sp>
        <p:nvSpPr>
          <p:cNvPr id="108" name="Google Shape;108;p36"/>
          <p:cNvSpPr txBox="1"/>
          <p:nvPr/>
        </p:nvSpPr>
        <p:spPr>
          <a:xfrm>
            <a:off x="777240" y="1207008"/>
            <a:ext cx="10515600" cy="550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Langflow platform </a:t>
            </a:r>
            <a:r>
              <a:rPr b="0" i="0" lang="en-US" sz="1800" u="none" cap="none" strike="noStrike">
                <a:solidFill>
                  <a:srgbClr val="000000"/>
                </a:solidFill>
                <a:latin typeface="Arial"/>
                <a:ea typeface="Arial"/>
                <a:cs typeface="Arial"/>
                <a:sym typeface="Arial"/>
              </a:rPr>
              <a:t>-For designing and orchestrating multi-agent workflows visually</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Grainte model </a:t>
            </a:r>
            <a:r>
              <a:rPr b="0" i="0" lang="en-US" sz="1800" u="none" cap="none" strike="noStrike">
                <a:solidFill>
                  <a:srgbClr val="000000"/>
                </a:solidFill>
                <a:latin typeface="Arial"/>
                <a:ea typeface="Arial"/>
                <a:cs typeface="Arial"/>
                <a:sym typeface="Arial"/>
              </a:rPr>
              <a:t>-  for eg – ibm-granite-3-2-8b – For natural language understanding, reasoning, and personalization</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Cloud </a:t>
            </a:r>
            <a:r>
              <a:rPr b="0" i="0" lang="en-US" sz="1800" u="none" cap="none" strike="noStrike">
                <a:solidFill>
                  <a:srgbClr val="000000"/>
                </a:solidFill>
                <a:latin typeface="Arial"/>
                <a:ea typeface="Arial"/>
                <a:cs typeface="Arial"/>
                <a:sym typeface="Arial"/>
              </a:rPr>
              <a:t>– It provides the infrastructure to build, deploy, and scale the Nutrition Agent efficiently. IBM Cloud enables a </a:t>
            </a:r>
            <a:r>
              <a:rPr b="1" i="0" lang="en-US" sz="1800" u="none" cap="none" strike="noStrike">
                <a:solidFill>
                  <a:srgbClr val="000000"/>
                </a:solidFill>
                <a:latin typeface="Arial"/>
                <a:ea typeface="Arial"/>
                <a:cs typeface="Arial"/>
                <a:sym typeface="Arial"/>
              </a:rPr>
              <a:t>reliable, secure, and scalable environment</a:t>
            </a:r>
            <a:r>
              <a:rPr b="0" i="0" lang="en-US" sz="1800" u="none" cap="none" strike="noStrike">
                <a:solidFill>
                  <a:srgbClr val="000000"/>
                </a:solidFill>
                <a:latin typeface="Arial"/>
                <a:ea typeface="Arial"/>
                <a:cs typeface="Arial"/>
                <a:sym typeface="Arial"/>
              </a:rPr>
              <a:t> for deploying the Nutrition Agent.</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RAG– </a:t>
            </a:r>
            <a:r>
              <a:rPr b="0" i="0" lang="en-US" sz="1800" u="none" cap="none" strike="noStrike">
                <a:solidFill>
                  <a:srgbClr val="000000"/>
                </a:solidFill>
                <a:latin typeface="Arial"/>
                <a:ea typeface="Arial"/>
                <a:cs typeface="Arial"/>
                <a:sym typeface="Arial"/>
              </a:rPr>
              <a:t>RAG to </a:t>
            </a:r>
            <a:r>
              <a:rPr b="1" i="0" lang="en-US" sz="1800" u="none" cap="none" strike="noStrike">
                <a:solidFill>
                  <a:srgbClr val="000000"/>
                </a:solidFill>
                <a:latin typeface="Arial"/>
                <a:ea typeface="Arial"/>
                <a:cs typeface="Arial"/>
                <a:sym typeface="Arial"/>
              </a:rPr>
              <a:t>fetch real data first, then generate intelligent answers</a:t>
            </a:r>
            <a:r>
              <a:rPr b="0" i="0" lang="en-US" sz="1800" u="none" cap="none" strike="noStrike">
                <a:solidFill>
                  <a:srgbClr val="000000"/>
                </a:solidFill>
                <a:latin typeface="Arial"/>
                <a:ea typeface="Arial"/>
                <a:cs typeface="Arial"/>
                <a:sym typeface="Arial"/>
              </a:rPr>
              <a:t>, making the Nutrition Agent more trustworthy and effective.</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IBM Watsonx.ai - </a:t>
            </a:r>
            <a:r>
              <a:rPr b="0" i="0" lang="en-US" sz="1800" u="none" cap="none" strike="noStrike">
                <a:solidFill>
                  <a:srgbClr val="000000"/>
                </a:solidFill>
                <a:latin typeface="Arial"/>
                <a:ea typeface="Arial"/>
                <a:cs typeface="Arial"/>
                <a:sym typeface="Arial"/>
              </a:rPr>
              <a:t>For model deployment, embeddings, and AI governance</a:t>
            </a:r>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800"/>
              <a:buFont typeface="Arial"/>
              <a:buChar char="•"/>
            </a:pPr>
            <a:r>
              <a:rPr b="1" i="0" lang="en-US" sz="1800" u="none" cap="none" strike="noStrike">
                <a:solidFill>
                  <a:srgbClr val="000000"/>
                </a:solidFill>
                <a:latin typeface="Arial"/>
                <a:ea typeface="Arial"/>
                <a:cs typeface="Arial"/>
                <a:sym typeface="Arial"/>
              </a:rPr>
              <a:t>Vector Database </a:t>
            </a:r>
            <a:r>
              <a:rPr b="0" i="0" lang="en-US" sz="1800" u="none" cap="none" strike="noStrike">
                <a:solidFill>
                  <a:srgbClr val="000000"/>
                </a:solidFill>
                <a:latin typeface="Arial"/>
                <a:ea typeface="Arial"/>
                <a:cs typeface="Arial"/>
                <a:sym typeface="Arial"/>
              </a:rPr>
              <a:t>(FAISS/Chroma) – For RAG-based nutritional data retrieval</a:t>
            </a:r>
            <a:endParaRPr b="0" i="0" sz="1800" u="none" cap="none" strike="noStrike">
              <a:solidFill>
                <a:srgbClr val="000000"/>
              </a:solidFill>
              <a:latin typeface="Arial"/>
              <a:ea typeface="Arial"/>
              <a:cs typeface="Arial"/>
              <a:sym typeface="Arial"/>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171450" lvl="0" marL="28575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37"/>
          <p:cNvSpPr/>
          <p:nvPr/>
        </p:nvSpPr>
        <p:spPr>
          <a:xfrm>
            <a:off x="537590" y="323239"/>
            <a:ext cx="5908929" cy="4485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Langflow</a:t>
            </a:r>
            <a:r>
              <a:rPr b="1" i="0" lang="en-US" sz="3500" u="none" cap="none" strike="noStrike">
                <a:solidFill>
                  <a:srgbClr val="051D3A"/>
                </a:solidFill>
                <a:latin typeface="Times New Roman"/>
                <a:ea typeface="Times New Roman"/>
                <a:cs typeface="Times New Roman"/>
                <a:sym typeface="Times New Roman"/>
              </a:rPr>
              <a:t> </a:t>
            </a:r>
            <a:r>
              <a:rPr b="1" i="0" lang="en-US" sz="2400" u="none" cap="none" strike="noStrike">
                <a:solidFill>
                  <a:srgbClr val="000000"/>
                </a:solidFill>
                <a:latin typeface="Arial"/>
                <a:ea typeface="Arial"/>
                <a:cs typeface="Arial"/>
                <a:sym typeface="Arial"/>
              </a:rPr>
              <a:t>component Used -</a:t>
            </a:r>
            <a:endParaRPr b="1" i="0" sz="2400" u="none" cap="none" strike="noStrike">
              <a:solidFill>
                <a:srgbClr val="000000"/>
              </a:solidFill>
              <a:latin typeface="Arial"/>
              <a:ea typeface="Arial"/>
              <a:cs typeface="Arial"/>
              <a:sym typeface="Arial"/>
            </a:endParaRPr>
          </a:p>
        </p:txBody>
      </p:sp>
      <p:sp>
        <p:nvSpPr>
          <p:cNvPr id="114" name="Google Shape;114;p37"/>
          <p:cNvSpPr/>
          <p:nvPr/>
        </p:nvSpPr>
        <p:spPr>
          <a:xfrm>
            <a:off x="2264331" y="6784578"/>
            <a:ext cx="2140744" cy="224195"/>
          </a:xfrm>
          <a:prstGeom prst="rect">
            <a:avLst/>
          </a:prstGeom>
          <a:noFill/>
          <a:ln>
            <a:noFill/>
          </a:ln>
        </p:spPr>
        <p:txBody>
          <a:bodyPr anchorCtr="0" anchor="t" bIns="0" lIns="0" spcFirstLastPara="1" rIns="0" wrap="square" tIns="0">
            <a:noAutofit/>
          </a:bodyPr>
          <a:lstStyle/>
          <a:p>
            <a:pPr indent="0" lvl="0" marL="0" marR="0" rtl="0" algn="ctr">
              <a:lnSpc>
                <a:spcPct val="109375"/>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5" name="Google Shape;115;p37"/>
          <p:cNvSpPr/>
          <p:nvPr/>
        </p:nvSpPr>
        <p:spPr>
          <a:xfrm>
            <a:off x="1782604" y="7100213"/>
            <a:ext cx="3104198" cy="731877"/>
          </a:xfrm>
          <a:prstGeom prst="rect">
            <a:avLst/>
          </a:prstGeom>
          <a:noFill/>
          <a:ln>
            <a:noFill/>
          </a:ln>
        </p:spPr>
        <p:txBody>
          <a:bodyPr anchorCtr="0" anchor="t" bIns="0" lIns="0" spcFirstLastPara="1" rIns="0" wrap="square" tIns="0">
            <a:noAutofit/>
          </a:bodyPr>
          <a:lstStyle/>
          <a:p>
            <a:pPr indent="0" lvl="0" marL="0" marR="0" rtl="0" algn="ctr">
              <a:lnSpc>
                <a:spcPct val="118750"/>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6" name="Google Shape;116;p37"/>
          <p:cNvSpPr/>
          <p:nvPr/>
        </p:nvSpPr>
        <p:spPr>
          <a:xfrm>
            <a:off x="5732383" y="6784578"/>
            <a:ext cx="1793915" cy="224195"/>
          </a:xfrm>
          <a:prstGeom prst="rect">
            <a:avLst/>
          </a:prstGeom>
          <a:noFill/>
          <a:ln>
            <a:noFill/>
          </a:ln>
        </p:spPr>
        <p:txBody>
          <a:bodyPr anchorCtr="0" anchor="t" bIns="0" lIns="0" spcFirstLastPara="1" rIns="0" wrap="square" tIns="0">
            <a:noAutofit/>
          </a:bodyPr>
          <a:lstStyle/>
          <a:p>
            <a:pPr indent="0" lvl="0" marL="0" marR="0" rtl="0" algn="ctr">
              <a:lnSpc>
                <a:spcPct val="109375"/>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7" name="Google Shape;117;p37"/>
          <p:cNvSpPr/>
          <p:nvPr/>
        </p:nvSpPr>
        <p:spPr>
          <a:xfrm>
            <a:off x="5077301" y="7100213"/>
            <a:ext cx="3104198" cy="731877"/>
          </a:xfrm>
          <a:prstGeom prst="rect">
            <a:avLst/>
          </a:prstGeom>
          <a:noFill/>
          <a:ln>
            <a:noFill/>
          </a:ln>
        </p:spPr>
        <p:txBody>
          <a:bodyPr anchorCtr="0" anchor="t" bIns="0" lIns="0" spcFirstLastPara="1" rIns="0" wrap="square" tIns="0">
            <a:noAutofit/>
          </a:bodyPr>
          <a:lstStyle/>
          <a:p>
            <a:pPr indent="0" lvl="0" marL="0" marR="0" rtl="0" algn="ctr">
              <a:lnSpc>
                <a:spcPct val="118750"/>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8" name="Google Shape;118;p37"/>
          <p:cNvSpPr/>
          <p:nvPr/>
        </p:nvSpPr>
        <p:spPr>
          <a:xfrm>
            <a:off x="9027081" y="6784578"/>
            <a:ext cx="1793915" cy="224195"/>
          </a:xfrm>
          <a:prstGeom prst="rect">
            <a:avLst/>
          </a:prstGeom>
          <a:noFill/>
          <a:ln>
            <a:noFill/>
          </a:ln>
        </p:spPr>
        <p:txBody>
          <a:bodyPr anchorCtr="0" anchor="t" bIns="0" lIns="0" spcFirstLastPara="1" rIns="0" wrap="square" tIns="0">
            <a:noAutofit/>
          </a:bodyPr>
          <a:lstStyle/>
          <a:p>
            <a:pPr indent="0" lvl="0" marL="0" marR="0" rtl="0" algn="ctr">
              <a:lnSpc>
                <a:spcPct val="109375"/>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19" name="Google Shape;119;p37"/>
          <p:cNvSpPr/>
          <p:nvPr/>
        </p:nvSpPr>
        <p:spPr>
          <a:xfrm>
            <a:off x="8371999" y="7100213"/>
            <a:ext cx="3104198" cy="731877"/>
          </a:xfrm>
          <a:prstGeom prst="rect">
            <a:avLst/>
          </a:prstGeom>
          <a:noFill/>
          <a:ln>
            <a:noFill/>
          </a:ln>
        </p:spPr>
        <p:txBody>
          <a:bodyPr anchorCtr="0" anchor="t" bIns="0" lIns="0" spcFirstLastPara="1" rIns="0" wrap="square" tIns="0">
            <a:noAutofit/>
          </a:bodyPr>
          <a:lstStyle/>
          <a:p>
            <a:pPr indent="0" lvl="0" marL="0" marR="0" rtl="0" algn="ctr">
              <a:lnSpc>
                <a:spcPct val="118750"/>
              </a:lnSpc>
              <a:spcBef>
                <a:spcPts val="0"/>
              </a:spcBef>
              <a:spcAft>
                <a:spcPts val="0"/>
              </a:spcAft>
              <a:buClr>
                <a:schemeClr val="dk1"/>
              </a:buClr>
              <a:buSzPts val="1600"/>
              <a:buFont typeface="Calibri"/>
              <a:buNone/>
            </a:pPr>
            <a:r>
              <a:t/>
            </a:r>
            <a:endParaRPr b="0" i="0" sz="1600" u="none" cap="none" strike="noStrike">
              <a:solidFill>
                <a:srgbClr val="000000"/>
              </a:solidFill>
              <a:latin typeface="Times New Roman"/>
              <a:ea typeface="Times New Roman"/>
              <a:cs typeface="Times New Roman"/>
              <a:sym typeface="Times New Roman"/>
            </a:endParaRPr>
          </a:p>
        </p:txBody>
      </p:sp>
      <p:sp>
        <p:nvSpPr>
          <p:cNvPr id="120" name="Google Shape;120;p37"/>
          <p:cNvSpPr txBox="1"/>
          <p:nvPr/>
        </p:nvSpPr>
        <p:spPr>
          <a:xfrm>
            <a:off x="474822" y="863187"/>
            <a:ext cx="8823960" cy="526297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1) Chat Input </a:t>
            </a:r>
            <a:r>
              <a:rPr b="0" i="0" lang="en-US" sz="1400" u="none" cap="none" strike="noStrike">
                <a:solidFill>
                  <a:srgbClr val="000000"/>
                </a:solidFill>
                <a:latin typeface="Arial"/>
                <a:ea typeface="Arial"/>
                <a:cs typeface="Arial"/>
                <a:sym typeface="Arial"/>
              </a:rPr>
              <a:t>– Interface where users enter their queries, preferences, or meal details (text/voice/image).</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2) IBM watsonx AI Agent </a:t>
            </a:r>
            <a:r>
              <a:rPr b="0" i="0" lang="en-US" sz="1400" u="none" cap="none" strike="noStrike">
                <a:solidFill>
                  <a:srgbClr val="000000"/>
                </a:solidFill>
                <a:latin typeface="Arial"/>
                <a:ea typeface="Arial"/>
                <a:cs typeface="Arial"/>
                <a:sym typeface="Arial"/>
              </a:rPr>
              <a:t>- Processes user input using Granite models to generate personalized nutrition insights and recommendations. </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3) Name of IBM Granite model - </a:t>
            </a:r>
            <a:r>
              <a:rPr b="0" i="0" lang="en-US" sz="1400" u="none" cap="none" strike="noStrike">
                <a:solidFill>
                  <a:srgbClr val="000000"/>
                </a:solidFill>
                <a:latin typeface="Arial"/>
                <a:ea typeface="Arial"/>
                <a:cs typeface="Arial"/>
                <a:sym typeface="Arial"/>
              </a:rPr>
              <a:t>Granite-4.0-8B-Instruct → Fast, efficient for real-time diet recommendations</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4) Chat output -</a:t>
            </a:r>
            <a:r>
              <a:rPr b="0" i="0" lang="en-US" sz="1400" u="none" cap="none" strike="noStrike">
                <a:solidFill>
                  <a:srgbClr val="000000"/>
                </a:solidFill>
                <a:latin typeface="Arial"/>
                <a:ea typeface="Arial"/>
                <a:cs typeface="Arial"/>
                <a:sym typeface="Arial"/>
              </a:rPr>
              <a:t>Displays AI-generated responses such as diet plans, nutritional analysis, and health suggestions. </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5) </a:t>
            </a:r>
            <a:r>
              <a:rPr b="1" i="0" lang="en-US" sz="1400" u="none" cap="none" strike="noStrike">
                <a:solidFill>
                  <a:srgbClr val="000000"/>
                </a:solidFill>
                <a:highlight>
                  <a:srgbClr val="FFFF00"/>
                </a:highlight>
                <a:latin typeface="Arial"/>
                <a:ea typeface="Arial"/>
                <a:cs typeface="Arial"/>
                <a:sym typeface="Arial"/>
              </a:rPr>
              <a:t>File component - </a:t>
            </a:r>
            <a:r>
              <a:rPr b="0" i="0" lang="en-US" sz="1400" u="none" cap="none" strike="noStrike">
                <a:solidFill>
                  <a:srgbClr val="000000"/>
                </a:solidFill>
                <a:highlight>
                  <a:srgbClr val="FFFF00"/>
                </a:highlight>
                <a:latin typeface="Arial"/>
                <a:ea typeface="Arial"/>
                <a:cs typeface="Arial"/>
                <a:sym typeface="Arial"/>
              </a:rPr>
              <a:t>Stores and retrieves user data, meal logs, and nutritional datasets for analysis and tracking.</a:t>
            </a:r>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6) </a:t>
            </a:r>
            <a:r>
              <a:rPr b="0" i="0" lang="en-US" sz="1400" u="none" cap="none" strike="noStrike">
                <a:solidFill>
                  <a:srgbClr val="000000"/>
                </a:solidFill>
                <a:highlight>
                  <a:srgbClr val="FFFF00"/>
                </a:highlight>
                <a:latin typeface="Arial"/>
                <a:ea typeface="Arial"/>
                <a:cs typeface="Arial"/>
                <a:sym typeface="Arial"/>
              </a:rPr>
              <a:t>Add name of any other component used.</a:t>
            </a:r>
            <a:endParaRPr/>
          </a:p>
          <a:p>
            <a:pPr indent="-254000" lvl="0" marL="34290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38"/>
          <p:cNvSpPr/>
          <p:nvPr/>
        </p:nvSpPr>
        <p:spPr>
          <a:xfrm>
            <a:off x="537590" y="323239"/>
            <a:ext cx="5908929" cy="4485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Langflow</a:t>
            </a:r>
            <a:r>
              <a:rPr b="1" i="0" lang="en-US" sz="3500" u="none" cap="none" strike="noStrike">
                <a:solidFill>
                  <a:srgbClr val="051D3A"/>
                </a:solidFill>
                <a:latin typeface="Times New Roman"/>
                <a:ea typeface="Times New Roman"/>
                <a:cs typeface="Times New Roman"/>
                <a:sym typeface="Times New Roman"/>
              </a:rPr>
              <a:t> </a:t>
            </a:r>
            <a:r>
              <a:rPr b="1" i="0" lang="en-US" sz="2400" u="none" cap="none" strike="noStrike">
                <a:solidFill>
                  <a:srgbClr val="000000"/>
                </a:solidFill>
                <a:latin typeface="Arial"/>
                <a:ea typeface="Arial"/>
                <a:cs typeface="Arial"/>
                <a:sym typeface="Arial"/>
              </a:rPr>
              <a:t>workflow -</a:t>
            </a:r>
            <a:endParaRPr b="1" i="0" sz="2400" u="none" cap="none" strike="noStrike">
              <a:solidFill>
                <a:srgbClr val="000000"/>
              </a:solidFill>
              <a:latin typeface="Arial"/>
              <a:ea typeface="Arial"/>
              <a:cs typeface="Arial"/>
              <a:sym typeface="Arial"/>
            </a:endParaRPr>
          </a:p>
        </p:txBody>
      </p:sp>
      <p:pic>
        <p:nvPicPr>
          <p:cNvPr descr="A screenshot of a computer&#10;&#10;AI-generated content may be incorrect." id="126" name="Google Shape;126;p38"/>
          <p:cNvPicPr preferRelativeResize="0"/>
          <p:nvPr/>
        </p:nvPicPr>
        <p:blipFill rotWithShape="1">
          <a:blip r:embed="rId3">
            <a:alphaModFix/>
          </a:blip>
          <a:srcRect b="0" l="0" r="0" t="0"/>
          <a:stretch/>
        </p:blipFill>
        <p:spPr>
          <a:xfrm>
            <a:off x="535570" y="1139263"/>
            <a:ext cx="11468100" cy="55054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p:nvPr/>
        </p:nvSpPr>
        <p:spPr>
          <a:xfrm>
            <a:off x="537590" y="323239"/>
            <a:ext cx="5908929" cy="4485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2400" u="none" cap="none" strike="noStrike">
                <a:solidFill>
                  <a:schemeClr val="dk1"/>
                </a:solidFill>
                <a:latin typeface="Calibri"/>
                <a:ea typeface="Calibri"/>
                <a:cs typeface="Calibri"/>
                <a:sym typeface="Calibri"/>
              </a:rPr>
              <a:t>Architecture blueprint</a:t>
            </a:r>
            <a:endParaRPr b="0" i="0" sz="2400" u="none" cap="none" strike="noStrike">
              <a:solidFill>
                <a:srgbClr val="000000"/>
              </a:solidFill>
              <a:latin typeface="Arial"/>
              <a:ea typeface="Arial"/>
              <a:cs typeface="Arial"/>
              <a:sym typeface="Arial"/>
            </a:endParaRPr>
          </a:p>
        </p:txBody>
      </p:sp>
      <p:pic>
        <p:nvPicPr>
          <p:cNvPr id="132" name="Google Shape;132;p7"/>
          <p:cNvPicPr preferRelativeResize="0"/>
          <p:nvPr/>
        </p:nvPicPr>
        <p:blipFill rotWithShape="1">
          <a:blip r:embed="rId3">
            <a:alphaModFix/>
          </a:blip>
          <a:srcRect b="0" l="0" r="0" t="0"/>
          <a:stretch/>
        </p:blipFill>
        <p:spPr>
          <a:xfrm>
            <a:off x="535570" y="675732"/>
            <a:ext cx="11468100" cy="61817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pic>
        <p:nvPicPr>
          <p:cNvPr id="137" name="Google Shape;137;p9"/>
          <p:cNvPicPr preferRelativeResize="0"/>
          <p:nvPr/>
        </p:nvPicPr>
        <p:blipFill rotWithShape="1">
          <a:blip r:embed="rId3">
            <a:alphaModFix/>
          </a:blip>
          <a:srcRect b="0" l="0" r="0" t="0"/>
          <a:stretch/>
        </p:blipFill>
        <p:spPr>
          <a:xfrm>
            <a:off x="8371985" y="1167493"/>
            <a:ext cx="3015343" cy="4523014"/>
          </a:xfrm>
          <a:prstGeom prst="rect">
            <a:avLst/>
          </a:prstGeom>
          <a:noFill/>
          <a:ln>
            <a:noFill/>
          </a:ln>
        </p:spPr>
      </p:pic>
      <p:sp>
        <p:nvSpPr>
          <p:cNvPr id="138" name="Google Shape;138;p9"/>
          <p:cNvSpPr txBox="1"/>
          <p:nvPr/>
        </p:nvSpPr>
        <p:spPr>
          <a:xfrm>
            <a:off x="475488" y="283464"/>
            <a:ext cx="9317736" cy="58477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3200" u="none" cap="none" strike="noStrike">
                <a:solidFill>
                  <a:srgbClr val="000000"/>
                </a:solidFill>
                <a:latin typeface="Arial"/>
                <a:ea typeface="Arial"/>
                <a:cs typeface="Arial"/>
                <a:sym typeface="Arial"/>
              </a:rPr>
              <a:t>Role of Agentic AI in the solution </a:t>
            </a:r>
            <a:endParaRPr b="1" i="0" sz="3200" u="none" cap="none" strike="noStrike">
              <a:solidFill>
                <a:srgbClr val="000000"/>
              </a:solidFill>
              <a:latin typeface="Arial"/>
              <a:ea typeface="Arial"/>
              <a:cs typeface="Arial"/>
              <a:sym typeface="Arial"/>
            </a:endParaRPr>
          </a:p>
        </p:txBody>
      </p:sp>
      <p:sp>
        <p:nvSpPr>
          <p:cNvPr id="139" name="Google Shape;139;p9"/>
          <p:cNvSpPr txBox="1"/>
          <p:nvPr/>
        </p:nvSpPr>
        <p:spPr>
          <a:xfrm>
            <a:off x="621792" y="1167493"/>
            <a:ext cx="7406640" cy="310854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Role of Agentic AI in Nutrition Agent</a:t>
            </a:r>
            <a:endParaRPr/>
          </a:p>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Agentic AI</a:t>
            </a:r>
            <a:r>
              <a:rPr b="0" i="0" lang="en-US" sz="1400" u="none" cap="none" strike="noStrike">
                <a:solidFill>
                  <a:srgbClr val="000000"/>
                </a:solidFill>
                <a:latin typeface="Arial"/>
                <a:ea typeface="Arial"/>
                <a:cs typeface="Arial"/>
                <a:sym typeface="Arial"/>
              </a:rPr>
              <a:t> enables the Nutrition Agent to function as an intelligent, autonomous system rather than a simple chatbot. Using </a:t>
            </a:r>
            <a:r>
              <a:rPr b="1" i="0" lang="en-US" sz="1400" u="none" cap="none" strike="noStrike">
                <a:solidFill>
                  <a:srgbClr val="000000"/>
                </a:solidFill>
                <a:latin typeface="Arial"/>
                <a:ea typeface="Arial"/>
                <a:cs typeface="Arial"/>
                <a:sym typeface="Arial"/>
              </a:rPr>
              <a:t>IBM watsonx.ai</a:t>
            </a:r>
            <a:r>
              <a:rPr b="0" i="0" lang="en-US" sz="1400" u="none" cap="none" strike="noStrike">
                <a:solidFill>
                  <a:srgbClr val="000000"/>
                </a:solidFill>
                <a:latin typeface="Arial"/>
                <a:ea typeface="Arial"/>
                <a:cs typeface="Arial"/>
                <a:sym typeface="Arial"/>
              </a:rPr>
              <a:t> and </a:t>
            </a:r>
            <a:r>
              <a:rPr b="1" i="0" lang="en-US" sz="1400" u="none" cap="none" strike="noStrike">
                <a:solidFill>
                  <a:srgbClr val="000000"/>
                </a:solidFill>
                <a:latin typeface="Arial"/>
                <a:ea typeface="Arial"/>
                <a:cs typeface="Arial"/>
                <a:sym typeface="Arial"/>
              </a:rPr>
              <a:t>IBM Granite models</a:t>
            </a:r>
            <a:r>
              <a:rPr b="0" i="0" lang="en-US" sz="1400" u="none" cap="none" strike="noStrike">
                <a:solidFill>
                  <a:srgbClr val="000000"/>
                </a:solidFill>
                <a:latin typeface="Arial"/>
                <a:ea typeface="Arial"/>
                <a:cs typeface="Arial"/>
                <a:sym typeface="Arial"/>
              </a:rPr>
              <a:t>, it coordinates multiple specialized agents to deliver personalized nutrition guidance.</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Each agent performs a specific role—such as retrieving nutritional data, generating diet plans, providing health advice, and analyzing food logs—while working collaboratively. This </a:t>
            </a:r>
            <a:r>
              <a:rPr b="1" i="0" lang="en-US" sz="1400" u="none" cap="none" strike="noStrike">
                <a:solidFill>
                  <a:srgbClr val="000000"/>
                </a:solidFill>
                <a:latin typeface="Arial"/>
                <a:ea typeface="Arial"/>
                <a:cs typeface="Arial"/>
                <a:sym typeface="Arial"/>
              </a:rPr>
              <a:t>multi-agent approach</a:t>
            </a:r>
            <a:r>
              <a:rPr b="0" i="0" lang="en-US" sz="1400" u="none" cap="none" strike="noStrike">
                <a:solidFill>
                  <a:srgbClr val="000000"/>
                </a:solidFill>
                <a:latin typeface="Arial"/>
                <a:ea typeface="Arial"/>
                <a:cs typeface="Arial"/>
                <a:sym typeface="Arial"/>
              </a:rPr>
              <a:t> ensures efficient task execution and accurate results.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Agentic AI also brings </a:t>
            </a:r>
            <a:r>
              <a:rPr b="1" i="0" lang="en-US" sz="1400" u="none" cap="none" strike="noStrike">
                <a:solidFill>
                  <a:srgbClr val="000000"/>
                </a:solidFill>
                <a:latin typeface="Arial"/>
                <a:ea typeface="Arial"/>
                <a:cs typeface="Arial"/>
                <a:sym typeface="Arial"/>
              </a:rPr>
              <a:t>context awareness</a:t>
            </a:r>
            <a:r>
              <a:rPr b="0" i="0" lang="en-US" sz="1400" u="none" cap="none" strike="noStrike">
                <a:solidFill>
                  <a:srgbClr val="000000"/>
                </a:solidFill>
                <a:latin typeface="Arial"/>
                <a:ea typeface="Arial"/>
                <a:cs typeface="Arial"/>
                <a:sym typeface="Arial"/>
              </a:rPr>
              <a:t>, understanding user details like age, health conditions, and fitness goals to generate tailored recommendations. It supports </a:t>
            </a:r>
            <a:r>
              <a:rPr b="1" i="0" lang="en-US" sz="1400" u="none" cap="none" strike="noStrike">
                <a:solidFill>
                  <a:srgbClr val="000000"/>
                </a:solidFill>
                <a:latin typeface="Arial"/>
                <a:ea typeface="Arial"/>
                <a:cs typeface="Arial"/>
                <a:sym typeface="Arial"/>
              </a:rPr>
              <a:t>real-time adaptation</a:t>
            </a:r>
            <a:r>
              <a:rPr b="0" i="0" lang="en-US" sz="1400" u="none" cap="none" strike="noStrike">
                <a:solidFill>
                  <a:srgbClr val="000000"/>
                </a:solidFill>
                <a:latin typeface="Arial"/>
                <a:ea typeface="Arial"/>
                <a:cs typeface="Arial"/>
                <a:sym typeface="Arial"/>
              </a:rPr>
              <a:t>, continuously updating suggestions based on user inputs like daily meals.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Additionally, agents communicate with each other, enabling better decision-making and improved outcomes.</a:t>
            </a:r>
            <a:endParaRPr/>
          </a:p>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Overall, Agentic AI makes the system proactive, personalized, and goal-driven, acting like a </a:t>
            </a:r>
            <a:r>
              <a:rPr b="1" i="0" lang="en-US" sz="1400" u="none" cap="none" strike="noStrike">
                <a:solidFill>
                  <a:srgbClr val="000000"/>
                </a:solidFill>
                <a:latin typeface="Arial"/>
                <a:ea typeface="Arial"/>
                <a:cs typeface="Arial"/>
                <a:sym typeface="Arial"/>
              </a:rPr>
              <a:t>smart digital nutritionist</a:t>
            </a:r>
            <a:r>
              <a:rPr b="0" i="0" lang="en-US" sz="1400" u="none" cap="none" strike="noStrike">
                <a:solidFill>
                  <a:srgbClr val="000000"/>
                </a:solidFill>
                <a:latin typeface="Arial"/>
                <a:ea typeface="Arial"/>
                <a:cs typeface="Arial"/>
                <a:sym typeface="Arial"/>
              </a:rPr>
              <a:t> that helps users maintain a healthy lifestyle.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39"/>
          <p:cNvSpPr/>
          <p:nvPr/>
        </p:nvSpPr>
        <p:spPr>
          <a:xfrm>
            <a:off x="793192" y="341560"/>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None/>
            </a:pPr>
            <a:r>
              <a:rPr b="1" i="0" lang="en-US" sz="2400" u="none" cap="none" strike="noStrike">
                <a:solidFill>
                  <a:srgbClr val="000000"/>
                </a:solidFill>
                <a:latin typeface="Arial"/>
                <a:ea typeface="Arial"/>
                <a:cs typeface="Arial"/>
                <a:sym typeface="Arial"/>
              </a:rPr>
              <a:t>Token Usage </a:t>
            </a:r>
            <a:endParaRPr b="1" i="0" sz="2400" u="none" cap="none" strike="noStrike">
              <a:solidFill>
                <a:srgbClr val="000000"/>
              </a:solidFill>
              <a:latin typeface="Arial"/>
              <a:ea typeface="Arial"/>
              <a:cs typeface="Arial"/>
              <a:sym typeface="Arial"/>
            </a:endParaRPr>
          </a:p>
        </p:txBody>
      </p:sp>
      <p:sp>
        <p:nvSpPr>
          <p:cNvPr id="145" name="Google Shape;145;p39"/>
          <p:cNvSpPr/>
          <p:nvPr/>
        </p:nvSpPr>
        <p:spPr>
          <a:xfrm>
            <a:off x="1218724" y="3360216"/>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46" name="Google Shape;146;p39"/>
          <p:cNvSpPr/>
          <p:nvPr/>
        </p:nvSpPr>
        <p:spPr>
          <a:xfrm>
            <a:off x="1218724" y="4395464"/>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47" name="Google Shape;147;p39"/>
          <p:cNvSpPr/>
          <p:nvPr/>
        </p:nvSpPr>
        <p:spPr>
          <a:xfrm>
            <a:off x="1218724" y="5430713"/>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48" name="Google Shape;148;p39"/>
          <p:cNvSpPr txBox="1"/>
          <p:nvPr/>
        </p:nvSpPr>
        <p:spPr>
          <a:xfrm>
            <a:off x="897392" y="1042133"/>
            <a:ext cx="4371171"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11,761 token are used</a:t>
            </a:r>
            <a:endParaRPr/>
          </a:p>
        </p:txBody>
      </p:sp>
      <p:pic>
        <p:nvPicPr>
          <p:cNvPr descr="A screenshot of a computer&#10;&#10;AI-generated content may be incorrect." id="149" name="Google Shape;149;p39"/>
          <p:cNvPicPr preferRelativeResize="0"/>
          <p:nvPr/>
        </p:nvPicPr>
        <p:blipFill rotWithShape="1">
          <a:blip r:embed="rId3">
            <a:alphaModFix/>
          </a:blip>
          <a:srcRect b="0" l="0" r="0" t="0"/>
          <a:stretch/>
        </p:blipFill>
        <p:spPr>
          <a:xfrm>
            <a:off x="114240" y="2453592"/>
            <a:ext cx="5095875" cy="2857500"/>
          </a:xfrm>
          <a:prstGeom prst="rect">
            <a:avLst/>
          </a:prstGeom>
          <a:noFill/>
          <a:ln>
            <a:noFill/>
          </a:ln>
        </p:spPr>
      </p:pic>
      <p:pic>
        <p:nvPicPr>
          <p:cNvPr descr="A screenshot of a computer&#10;&#10;AI-generated content may be incorrect." id="150" name="Google Shape;150;p39"/>
          <p:cNvPicPr preferRelativeResize="0"/>
          <p:nvPr/>
        </p:nvPicPr>
        <p:blipFill rotWithShape="1">
          <a:blip r:embed="rId4">
            <a:alphaModFix/>
          </a:blip>
          <a:srcRect b="0" l="0" r="0" t="0"/>
          <a:stretch/>
        </p:blipFill>
        <p:spPr>
          <a:xfrm>
            <a:off x="6159601" y="2451181"/>
            <a:ext cx="5724525" cy="2857500"/>
          </a:xfrm>
          <a:prstGeom prst="rect">
            <a:avLst/>
          </a:prstGeom>
          <a:noFill/>
          <a:ln>
            <a:noFill/>
          </a:ln>
        </p:spPr>
      </p:pic>
      <p:sp>
        <p:nvSpPr>
          <p:cNvPr id="151" name="Google Shape;151;p39"/>
          <p:cNvSpPr txBox="1"/>
          <p:nvPr/>
        </p:nvSpPr>
        <p:spPr>
          <a:xfrm>
            <a:off x="1278639" y="1718067"/>
            <a:ext cx="2743199" cy="4001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sng" cap="none" strike="noStrike">
                <a:solidFill>
                  <a:srgbClr val="000000"/>
                </a:solidFill>
                <a:latin typeface="Arial"/>
                <a:ea typeface="Arial"/>
                <a:cs typeface="Arial"/>
                <a:sym typeface="Arial"/>
              </a:rPr>
              <a:t>Before Prompt</a:t>
            </a:r>
            <a:endParaRPr/>
          </a:p>
        </p:txBody>
      </p:sp>
      <p:sp>
        <p:nvSpPr>
          <p:cNvPr id="152" name="Google Shape;152;p39"/>
          <p:cNvSpPr txBox="1"/>
          <p:nvPr/>
        </p:nvSpPr>
        <p:spPr>
          <a:xfrm>
            <a:off x="7106828" y="1722919"/>
            <a:ext cx="2743199" cy="4001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sng" cap="none" strike="noStrike">
                <a:solidFill>
                  <a:srgbClr val="000000"/>
                </a:solidFill>
                <a:latin typeface="Arial"/>
                <a:ea typeface="Arial"/>
                <a:cs typeface="Arial"/>
                <a:sym typeface="Arial"/>
              </a:rPr>
              <a:t>After the Prompt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40"/>
          <p:cNvSpPr txBox="1"/>
          <p:nvPr/>
        </p:nvSpPr>
        <p:spPr>
          <a:xfrm>
            <a:off x="777240" y="484632"/>
            <a:ext cx="7123176"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Novelty and Uniqueness</a:t>
            </a:r>
            <a:endParaRPr b="1" i="0" sz="2400" u="none" cap="none" strike="noStrike">
              <a:solidFill>
                <a:srgbClr val="000000"/>
              </a:solidFill>
              <a:latin typeface="Arial"/>
              <a:ea typeface="Arial"/>
              <a:cs typeface="Arial"/>
              <a:sym typeface="Arial"/>
            </a:endParaRPr>
          </a:p>
        </p:txBody>
      </p:sp>
      <p:sp>
        <p:nvSpPr>
          <p:cNvPr id="158" name="Google Shape;158;p40"/>
          <p:cNvSpPr txBox="1"/>
          <p:nvPr/>
        </p:nvSpPr>
        <p:spPr>
          <a:xfrm>
            <a:off x="777240" y="1207008"/>
            <a:ext cx="11301984" cy="529375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000000"/>
                </a:solidFill>
                <a:latin typeface="Arial"/>
                <a:ea typeface="Arial"/>
                <a:cs typeface="Arial"/>
                <a:sym typeface="Arial"/>
              </a:rPr>
              <a:t>The proposed Nutrition Agent stands out by combining </a:t>
            </a:r>
            <a:r>
              <a:rPr b="1" i="0" lang="en-US" sz="1800" u="none" cap="none" strike="noStrike">
                <a:solidFill>
                  <a:srgbClr val="000000"/>
                </a:solidFill>
                <a:latin typeface="Arial"/>
                <a:ea typeface="Arial"/>
                <a:cs typeface="Arial"/>
                <a:sym typeface="Arial"/>
              </a:rPr>
              <a:t>Agentic AI, RAG, and personalization</a:t>
            </a:r>
            <a:r>
              <a:rPr b="0" i="0" lang="en-US" sz="1800" u="none" cap="none" strike="noStrike">
                <a:solidFill>
                  <a:srgbClr val="000000"/>
                </a:solidFill>
                <a:latin typeface="Arial"/>
                <a:ea typeface="Arial"/>
                <a:cs typeface="Arial"/>
                <a:sym typeface="Arial"/>
              </a:rPr>
              <a:t> into a single intelligent system.</a:t>
            </a:r>
            <a:endParaRPr/>
          </a:p>
          <a:p>
            <a:pPr indent="0" lvl="0" marL="0" marR="0" rtl="0" algn="l">
              <a:lnSpc>
                <a:spcPct val="100000"/>
              </a:lnSpc>
              <a:spcBef>
                <a:spcPts val="0"/>
              </a:spcBef>
              <a:spcAft>
                <a:spcPts val="0"/>
              </a:spcAft>
              <a:buNone/>
            </a:pPr>
            <a:r>
              <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Multi-Agent Intelligence</a:t>
            </a:r>
            <a:r>
              <a:rPr b="0" i="0" lang="en-US" sz="1800" u="none" cap="none" strike="noStrike">
                <a:solidFill>
                  <a:srgbClr val="000000"/>
                </a:solidFill>
                <a:latin typeface="Arial"/>
                <a:ea typeface="Arial"/>
                <a:cs typeface="Arial"/>
                <a:sym typeface="Arial"/>
              </a:rPr>
              <a:t> – Instead of a single chatbot, multiple specialized agents collaborate to deliver accurate and context-aware nutrition guidance. </a:t>
            </a:r>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RAG-Based Accuracy</a:t>
            </a:r>
            <a:r>
              <a:rPr b="0" i="0" lang="en-US" sz="1800" u="none" cap="none" strike="noStrike">
                <a:solidFill>
                  <a:srgbClr val="000000"/>
                </a:solidFill>
                <a:latin typeface="Arial"/>
                <a:ea typeface="Arial"/>
                <a:cs typeface="Arial"/>
                <a:sym typeface="Arial"/>
              </a:rPr>
              <a:t> – Integrates real-time data retrieval with AI generation, reducing misinformation and ensuring trustworthy recommendations. </a:t>
            </a:r>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Hyper-Personalization</a:t>
            </a:r>
            <a:r>
              <a:rPr b="0" i="0" lang="en-US" sz="1800" u="none" cap="none" strike="noStrike">
                <a:solidFill>
                  <a:srgbClr val="000000"/>
                </a:solidFill>
                <a:latin typeface="Arial"/>
                <a:ea typeface="Arial"/>
                <a:cs typeface="Arial"/>
                <a:sym typeface="Arial"/>
              </a:rPr>
              <a:t> – Tailors diet plans based on health conditions, cultural preferences, and fitness goals. </a:t>
            </a:r>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Real-Time Feedback Loop</a:t>
            </a:r>
            <a:r>
              <a:rPr b="0" i="0" lang="en-US" sz="1800" u="none" cap="none" strike="noStrike">
                <a:solidFill>
                  <a:srgbClr val="000000"/>
                </a:solidFill>
                <a:latin typeface="Arial"/>
                <a:ea typeface="Arial"/>
                <a:cs typeface="Arial"/>
                <a:sym typeface="Arial"/>
              </a:rPr>
              <a:t> – Continuously adapts recommendations based on daily food logs and user behavior. </a:t>
            </a:r>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Multi-Modal Input</a:t>
            </a:r>
            <a:r>
              <a:rPr b="0" i="0" lang="en-US" sz="1800" u="none" cap="none" strike="noStrike">
                <a:solidFill>
                  <a:srgbClr val="000000"/>
                </a:solidFill>
                <a:latin typeface="Arial"/>
                <a:ea typeface="Arial"/>
                <a:cs typeface="Arial"/>
                <a:sym typeface="Arial"/>
              </a:rPr>
              <a:t> – Supports text, voice, and image-based meal tracking for better usability. </a:t>
            </a:r>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Preventive Healthcare Focus</a:t>
            </a:r>
            <a:r>
              <a:rPr b="0" i="0" lang="en-US" sz="1800" u="none" cap="none" strike="noStrike">
                <a:solidFill>
                  <a:srgbClr val="000000"/>
                </a:solidFill>
                <a:latin typeface="Arial"/>
                <a:ea typeface="Arial"/>
                <a:cs typeface="Arial"/>
                <a:sym typeface="Arial"/>
              </a:rPr>
              <a:t> – Goes beyond diet planning to provide disease-specific nutrition advice. </a:t>
            </a:r>
            <a:endParaRPr/>
          </a:p>
          <a:p>
            <a:pPr indent="0" lvl="0" marL="0" marR="0" rtl="0" algn="l">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Scalable &amp; Enterprise-Ready</a:t>
            </a:r>
            <a:r>
              <a:rPr b="0" i="0" lang="en-US" sz="1800" u="none" cap="none" strike="noStrike">
                <a:solidFill>
                  <a:srgbClr val="000000"/>
                </a:solidFill>
                <a:latin typeface="Arial"/>
                <a:ea typeface="Arial"/>
                <a:cs typeface="Arial"/>
                <a:sym typeface="Arial"/>
              </a:rPr>
              <a:t> – Built on </a:t>
            </a:r>
            <a:r>
              <a:rPr b="1" i="0" lang="en-US" sz="1800" u="none" cap="none" strike="noStrike">
                <a:solidFill>
                  <a:srgbClr val="000000"/>
                </a:solidFill>
                <a:latin typeface="Arial"/>
                <a:ea typeface="Arial"/>
                <a:cs typeface="Arial"/>
                <a:sym typeface="Arial"/>
              </a:rPr>
              <a:t>IBM watsonx.ai</a:t>
            </a:r>
            <a:r>
              <a:rPr b="0" i="0" lang="en-US" sz="1800" u="none" cap="none" strike="noStrike">
                <a:solidFill>
                  <a:srgbClr val="000000"/>
                </a:solidFill>
                <a:latin typeface="Arial"/>
                <a:ea typeface="Arial"/>
                <a:cs typeface="Arial"/>
                <a:sym typeface="Arial"/>
              </a:rPr>
              <a:t> with </a:t>
            </a:r>
            <a:r>
              <a:rPr b="1" i="0" lang="en-US" sz="1800" u="none" cap="none" strike="noStrike">
                <a:solidFill>
                  <a:srgbClr val="000000"/>
                </a:solidFill>
                <a:latin typeface="Arial"/>
                <a:ea typeface="Arial"/>
                <a:cs typeface="Arial"/>
                <a:sym typeface="Arial"/>
              </a:rPr>
              <a:t>IBM Granite models</a:t>
            </a:r>
            <a:r>
              <a:rPr b="0" i="0" lang="en-US" sz="1800" u="none" cap="none" strike="noStrike">
                <a:solidFill>
                  <a:srgbClr val="000000"/>
                </a:solidFill>
                <a:latin typeface="Arial"/>
                <a:ea typeface="Arial"/>
                <a:cs typeface="Arial"/>
                <a:sym typeface="Arial"/>
              </a:rPr>
              <a:t>, ensuring reliability and governance. </a:t>
            </a:r>
            <a:endParaRPr/>
          </a:p>
          <a:p>
            <a:pPr indent="0" lvl="0" marL="0" marR="0" rtl="0" algn="l">
              <a:lnSpc>
                <a:spcPct val="100000"/>
              </a:lnSpc>
              <a:spcBef>
                <a:spcPts val="0"/>
              </a:spcBef>
              <a:spcAft>
                <a:spcPts val="0"/>
              </a:spcAft>
              <a:buNone/>
            </a:pPr>
            <a:r>
              <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800" u="none" cap="none" strike="noStrike">
                <a:solidFill>
                  <a:srgbClr val="000000"/>
                </a:solidFill>
                <a:latin typeface="Arial"/>
                <a:ea typeface="Arial"/>
                <a:cs typeface="Arial"/>
                <a:sym typeface="Arial"/>
              </a:rPr>
              <a:t>This makes the solution a </a:t>
            </a:r>
            <a:r>
              <a:rPr b="1" i="0" lang="en-US" sz="1800" u="none" cap="none" strike="noStrike">
                <a:solidFill>
                  <a:srgbClr val="000000"/>
                </a:solidFill>
                <a:latin typeface="Arial"/>
                <a:ea typeface="Arial"/>
                <a:cs typeface="Arial"/>
                <a:sym typeface="Arial"/>
              </a:rPr>
              <a:t>smart, adaptive, and proactive digital nutritionist</a:t>
            </a:r>
            <a:r>
              <a:rPr b="0" i="0" lang="en-US" sz="1800" u="none" cap="none" strike="noStrike">
                <a:solidFill>
                  <a:srgbClr val="000000"/>
                </a:solidFill>
                <a:latin typeface="Arial"/>
                <a:ea typeface="Arial"/>
                <a:cs typeface="Arial"/>
                <a:sym typeface="Arial"/>
              </a:rPr>
              <a:t>, not just a static diet recommendation tool.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41"/>
          <p:cNvSpPr/>
          <p:nvPr/>
        </p:nvSpPr>
        <p:spPr>
          <a:xfrm>
            <a:off x="1218724" y="420729"/>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Git Hub Link</a:t>
            </a:r>
            <a:endParaRPr b="1" i="0" sz="2400" u="none" cap="none" strike="noStrike">
              <a:solidFill>
                <a:srgbClr val="000000"/>
              </a:solidFill>
              <a:latin typeface="Arial"/>
              <a:ea typeface="Arial"/>
              <a:cs typeface="Arial"/>
              <a:sym typeface="Arial"/>
            </a:endParaRPr>
          </a:p>
        </p:txBody>
      </p:sp>
      <p:sp>
        <p:nvSpPr>
          <p:cNvPr id="164" name="Google Shape;164;p41"/>
          <p:cNvSpPr/>
          <p:nvPr/>
        </p:nvSpPr>
        <p:spPr>
          <a:xfrm>
            <a:off x="1218724" y="1153712"/>
            <a:ext cx="9214580" cy="4277001"/>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 Please create public github repository (Enable Add README  button while creating repository) with format – </a:t>
            </a:r>
            <a:endParaRPr/>
          </a:p>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Please test and Paste the working  Github URL –</a:t>
            </a:r>
            <a:endParaRPr/>
          </a:p>
          <a:p>
            <a:pPr indent="0" lvl="0" marL="0" marR="0" rtl="0" algn="l">
              <a:lnSpc>
                <a:spcPct val="162162"/>
              </a:lnSpc>
              <a:spcBef>
                <a:spcPts val="0"/>
              </a:spcBef>
              <a:spcAft>
                <a:spcPts val="0"/>
              </a:spcAft>
              <a:buNone/>
            </a:pPr>
            <a:r>
              <a:rPr b="1" i="0" lang="en-US" sz="1850" u="none" cap="none" strike="noStrike">
                <a:solidFill>
                  <a:srgbClr val="2B3541"/>
                </a:solidFill>
                <a:latin typeface="Times New Roman"/>
                <a:ea typeface="Times New Roman"/>
                <a:cs typeface="Times New Roman"/>
                <a:sym typeface="Times New Roman"/>
              </a:rPr>
              <a:t>Make sure you have Uploaded following three files into your github repository  </a:t>
            </a:r>
            <a:br>
              <a:rPr b="0" i="0" lang="en-US" sz="1850" u="none" cap="none" strike="noStrike">
                <a:solidFill>
                  <a:srgbClr val="2B3541"/>
                </a:solidFill>
                <a:latin typeface="Times New Roman"/>
                <a:ea typeface="Times New Roman"/>
                <a:cs typeface="Times New Roman"/>
                <a:sym typeface="Times New Roman"/>
              </a:rPr>
            </a:br>
            <a:r>
              <a:rPr b="0" i="0" lang="en-US" sz="1850" u="none" cap="none" strike="noStrike">
                <a:solidFill>
                  <a:srgbClr val="2B3541"/>
                </a:solidFill>
                <a:latin typeface="Times New Roman"/>
                <a:ea typeface="Times New Roman"/>
                <a:cs typeface="Times New Roman"/>
                <a:sym typeface="Times New Roman"/>
              </a:rPr>
              <a:t>1) app.json file , 2) yourproblemstatement.pdf file  3) your projectpresntation.pptx file 4)any other files </a:t>
            </a:r>
            <a:endParaRPr/>
          </a:p>
          <a:p>
            <a:pPr indent="0" lvl="0" marL="0" marR="0" rtl="0" algn="l">
              <a:lnSpc>
                <a:spcPct val="162162"/>
              </a:lnSpc>
              <a:spcBef>
                <a:spcPts val="0"/>
              </a:spcBef>
              <a:spcAft>
                <a:spcPts val="0"/>
              </a:spcAft>
              <a:buClr>
                <a:srgbClr val="2B3541"/>
              </a:buClr>
              <a:buSzPts val="1850"/>
              <a:buFont typeface="Times New Roman"/>
              <a:buNone/>
            </a:pPr>
            <a:r>
              <a:t/>
            </a:r>
            <a:endParaRPr b="0" i="0" sz="1850" u="none" cap="none" strike="noStrike">
              <a:solidFill>
                <a:srgbClr val="000000"/>
              </a:solidFill>
              <a:latin typeface="Times New Roman"/>
              <a:ea typeface="Times New Roman"/>
              <a:cs typeface="Times New Roman"/>
              <a:sym typeface="Times New Roman"/>
            </a:endParaRPr>
          </a:p>
        </p:txBody>
      </p:sp>
      <p:sp>
        <p:nvSpPr>
          <p:cNvPr id="165" name="Google Shape;165;p41"/>
          <p:cNvSpPr/>
          <p:nvPr/>
        </p:nvSpPr>
        <p:spPr>
          <a:xfrm>
            <a:off x="1218724" y="3360216"/>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66" name="Google Shape;166;p41"/>
          <p:cNvSpPr/>
          <p:nvPr/>
        </p:nvSpPr>
        <p:spPr>
          <a:xfrm>
            <a:off x="1218724" y="4395464"/>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67" name="Google Shape;167;p41"/>
          <p:cNvSpPr/>
          <p:nvPr/>
        </p:nvSpPr>
        <p:spPr>
          <a:xfrm>
            <a:off x="1218724" y="5430713"/>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42"/>
          <p:cNvSpPr/>
          <p:nvPr/>
        </p:nvSpPr>
        <p:spPr>
          <a:xfrm>
            <a:off x="1218724" y="420729"/>
            <a:ext cx="6444496" cy="704017"/>
          </a:xfrm>
          <a:prstGeom prst="rect">
            <a:avLst/>
          </a:prstGeom>
          <a:noFill/>
          <a:ln>
            <a:noFill/>
          </a:ln>
        </p:spPr>
        <p:txBody>
          <a:bodyPr anchorCtr="0" anchor="t" bIns="0" lIns="0" spcFirstLastPara="1" rIns="0" wrap="square" tIns="0">
            <a:noAutofit/>
          </a:bodyPr>
          <a:lstStyle/>
          <a:p>
            <a:pPr indent="0" lvl="0" marL="0" marR="0" rtl="0" algn="l">
              <a:lnSpc>
                <a:spcPct val="157142"/>
              </a:lnSpc>
              <a:spcBef>
                <a:spcPts val="0"/>
              </a:spcBef>
              <a:spcAft>
                <a:spcPts val="0"/>
              </a:spcAft>
              <a:buClr>
                <a:srgbClr val="051D3A"/>
              </a:buClr>
              <a:buSzPts val="3500"/>
              <a:buFont typeface="Times New Roman"/>
              <a:buNone/>
            </a:pPr>
            <a:r>
              <a:rPr b="1" i="0" lang="en-US" sz="2400" u="none" cap="none" strike="noStrike">
                <a:solidFill>
                  <a:srgbClr val="000000"/>
                </a:solidFill>
                <a:latin typeface="Arial"/>
                <a:ea typeface="Arial"/>
                <a:cs typeface="Arial"/>
                <a:sym typeface="Arial"/>
              </a:rPr>
              <a:t>Future Scope </a:t>
            </a:r>
            <a:endParaRPr b="1" i="0" sz="2400" u="none" cap="none" strike="noStrike">
              <a:solidFill>
                <a:srgbClr val="000000"/>
              </a:solidFill>
              <a:latin typeface="Arial"/>
              <a:ea typeface="Arial"/>
              <a:cs typeface="Arial"/>
              <a:sym typeface="Arial"/>
            </a:endParaRPr>
          </a:p>
        </p:txBody>
      </p:sp>
      <p:sp>
        <p:nvSpPr>
          <p:cNvPr id="173" name="Google Shape;173;p42"/>
          <p:cNvSpPr/>
          <p:nvPr/>
        </p:nvSpPr>
        <p:spPr>
          <a:xfrm>
            <a:off x="1218724" y="1221715"/>
            <a:ext cx="9214580" cy="4277001"/>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1" i="0" lang="en-US" sz="1850" u="none" cap="none" strike="noStrike">
                <a:solidFill>
                  <a:srgbClr val="2B3541"/>
                </a:solidFill>
                <a:latin typeface="Times New Roman"/>
                <a:ea typeface="Times New Roman"/>
                <a:cs typeface="Times New Roman"/>
                <a:sym typeface="Times New Roman"/>
              </a:rPr>
              <a:t>1.Integration with Wearables &amp; Health Devices – </a:t>
            </a:r>
            <a:endParaRPr/>
          </a:p>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endParaRPr/>
          </a:p>
          <a:p>
            <a:pPr indent="0" lvl="0" marL="0" marR="0" rtl="0" algn="l">
              <a:lnSpc>
                <a:spcPct val="162162"/>
              </a:lnSpc>
              <a:spcBef>
                <a:spcPts val="0"/>
              </a:spcBef>
              <a:spcAft>
                <a:spcPts val="0"/>
              </a:spcAft>
              <a:buClr>
                <a:srgbClr val="2B3541"/>
              </a:buClr>
              <a:buSzPts val="1850"/>
              <a:buFont typeface="Times New Roman"/>
              <a:buNone/>
            </a:pPr>
            <a:r>
              <a:rPr b="1" i="0" lang="en-US" sz="1850" u="none" cap="none" strike="noStrike">
                <a:solidFill>
                  <a:srgbClr val="2B3541"/>
                </a:solidFill>
                <a:latin typeface="Times New Roman"/>
                <a:ea typeface="Times New Roman"/>
                <a:cs typeface="Times New Roman"/>
                <a:sym typeface="Times New Roman"/>
              </a:rPr>
              <a:t>2.AI-Powered Voice Assistant &amp; Multilingual Support </a:t>
            </a:r>
            <a:r>
              <a:rPr b="0" i="0" lang="en-US" sz="1850" u="none" cap="none" strike="noStrike">
                <a:solidFill>
                  <a:srgbClr val="2B3541"/>
                </a:solidFill>
                <a:latin typeface="Times New Roman"/>
                <a:ea typeface="Times New Roman"/>
                <a:cs typeface="Times New Roman"/>
                <a:sym typeface="Times New Roman"/>
              </a:rPr>
              <a:t>– </a:t>
            </a:r>
            <a:endParaRPr/>
          </a:p>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b="0" i="0" sz="1850" u="none" cap="none" strike="noStrike">
              <a:solidFill>
                <a:srgbClr val="000000"/>
              </a:solidFill>
              <a:latin typeface="Times New Roman"/>
              <a:ea typeface="Times New Roman"/>
              <a:cs typeface="Times New Roman"/>
              <a:sym typeface="Times New Roman"/>
            </a:endParaRPr>
          </a:p>
        </p:txBody>
      </p:sp>
      <p:sp>
        <p:nvSpPr>
          <p:cNvPr id="174" name="Google Shape;174;p42"/>
          <p:cNvSpPr/>
          <p:nvPr/>
        </p:nvSpPr>
        <p:spPr>
          <a:xfrm>
            <a:off x="1218724" y="3360216"/>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4395464"/>
            <a:ext cx="7468553" cy="766048"/>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
        <p:nvSpPr>
          <p:cNvPr id="176" name="Google Shape;176;p42"/>
          <p:cNvSpPr/>
          <p:nvPr/>
        </p:nvSpPr>
        <p:spPr>
          <a:xfrm>
            <a:off x="1218724" y="5430713"/>
            <a:ext cx="7468553" cy="383024"/>
          </a:xfrm>
          <a:prstGeom prst="rect">
            <a:avLst/>
          </a:prstGeom>
          <a:noFill/>
          <a:ln>
            <a:noFill/>
          </a:ln>
        </p:spPr>
        <p:txBody>
          <a:bodyPr anchorCtr="0" anchor="t" bIns="0" lIns="0" spcFirstLastPara="1" rIns="0" wrap="square" tIns="0">
            <a:noAutofit/>
          </a:bodyPr>
          <a:lstStyle/>
          <a:p>
            <a:pPr indent="0" lvl="0" marL="0" marR="0" rtl="0" algn="l">
              <a:lnSpc>
                <a:spcPct val="162162"/>
              </a:lnSpc>
              <a:spcBef>
                <a:spcPts val="0"/>
              </a:spcBef>
              <a:spcAft>
                <a:spcPts val="0"/>
              </a:spcAft>
              <a:buClr>
                <a:srgbClr val="2B3541"/>
              </a:buClr>
              <a:buSzPts val="1850"/>
              <a:buFont typeface="Times New Roman"/>
              <a:buNone/>
            </a:pPr>
            <a:r>
              <a:rPr b="0" i="0" lang="en-US" sz="1850" u="none" cap="none" strike="noStrike">
                <a:solidFill>
                  <a:srgbClr val="2B3541"/>
                </a:solidFill>
                <a:latin typeface="Times New Roman"/>
                <a:ea typeface="Times New Roman"/>
                <a:cs typeface="Times New Roman"/>
                <a:sym typeface="Times New Roman"/>
              </a:rPr>
              <a:t>·</a:t>
            </a:r>
            <a:endParaRPr b="0" i="0" sz="1850" u="none" cap="none" strike="noStrike">
              <a:solidFill>
                <a:srgbClr val="000000"/>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pic>
        <p:nvPicPr>
          <p:cNvPr descr="A screenshot of a computer&#10;&#10;AI-generated content may be incorrect." id="181" name="Google Shape;181;p43"/>
          <p:cNvPicPr preferRelativeResize="0"/>
          <p:nvPr/>
        </p:nvPicPr>
        <p:blipFill rotWithShape="1">
          <a:blip r:embed="rId3">
            <a:alphaModFix/>
          </a:blip>
          <a:srcRect b="0" l="0" r="0" t="0"/>
          <a:stretch/>
        </p:blipFill>
        <p:spPr>
          <a:xfrm>
            <a:off x="1140862" y="1485577"/>
            <a:ext cx="6911761" cy="4520796"/>
          </a:xfrm>
          <a:prstGeom prst="rect">
            <a:avLst/>
          </a:prstGeom>
          <a:noFill/>
          <a:ln>
            <a:noFill/>
          </a:ln>
        </p:spPr>
      </p:pic>
      <p:sp>
        <p:nvSpPr>
          <p:cNvPr id="182" name="Google Shape;182;p43"/>
          <p:cNvSpPr txBox="1"/>
          <p:nvPr/>
        </p:nvSpPr>
        <p:spPr>
          <a:xfrm>
            <a:off x="327949" y="207380"/>
            <a:ext cx="6096000" cy="6771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Certificates Earned:</a:t>
            </a:r>
            <a:endParaRPr/>
          </a:p>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 name="Google Shape;183;p43"/>
          <p:cNvSpPr txBox="1"/>
          <p:nvPr/>
        </p:nvSpPr>
        <p:spPr>
          <a:xfrm>
            <a:off x="552048" y="690061"/>
            <a:ext cx="6389965"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000000"/>
                </a:solidFill>
                <a:latin typeface="Arial"/>
                <a:ea typeface="Arial"/>
                <a:cs typeface="Arial"/>
                <a:sym typeface="Arial"/>
              </a:rPr>
              <a:t>Please  add your credly certificate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pic>
        <p:nvPicPr>
          <p:cNvPr descr="A certificate with red text&#10;&#10;AI-generated content may be incorrect." id="188" name="Google Shape;188;p44"/>
          <p:cNvPicPr preferRelativeResize="0"/>
          <p:nvPr/>
        </p:nvPicPr>
        <p:blipFill rotWithShape="1">
          <a:blip r:embed="rId3">
            <a:alphaModFix/>
          </a:blip>
          <a:srcRect b="-275" l="0" r="177" t="0"/>
          <a:stretch/>
        </p:blipFill>
        <p:spPr>
          <a:xfrm>
            <a:off x="2512736" y="1712637"/>
            <a:ext cx="7177553" cy="4658577"/>
          </a:xfrm>
          <a:prstGeom prst="rect">
            <a:avLst/>
          </a:prstGeom>
          <a:noFill/>
          <a:ln>
            <a:noFill/>
          </a:ln>
        </p:spPr>
      </p:pic>
      <p:sp>
        <p:nvSpPr>
          <p:cNvPr id="189" name="Google Shape;189;p44"/>
          <p:cNvSpPr txBox="1"/>
          <p:nvPr/>
        </p:nvSpPr>
        <p:spPr>
          <a:xfrm>
            <a:off x="176696" y="226391"/>
            <a:ext cx="6096000" cy="6771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0000"/>
                </a:solidFill>
                <a:latin typeface="Arial"/>
                <a:ea typeface="Arial"/>
                <a:cs typeface="Arial"/>
                <a:sym typeface="Arial"/>
              </a:rPr>
              <a:t>Certificates Earned:</a:t>
            </a:r>
            <a:r>
              <a:rPr b="0" i="0" lang="en-US" sz="2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 name="Google Shape;190;p44"/>
          <p:cNvSpPr txBox="1"/>
          <p:nvPr/>
        </p:nvSpPr>
        <p:spPr>
          <a:xfrm>
            <a:off x="496843" y="800470"/>
            <a:ext cx="5437681" cy="4001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0000"/>
                </a:solidFill>
                <a:latin typeface="Arial"/>
                <a:ea typeface="Arial"/>
                <a:cs typeface="Arial"/>
                <a:sym typeface="Arial"/>
              </a:rPr>
              <a:t>Add your IBM BOB Certificate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id="195" name="Google Shape;195;p20"/>
          <p:cNvPicPr preferRelativeResize="0"/>
          <p:nvPr/>
        </p:nvPicPr>
        <p:blipFill rotWithShape="1">
          <a:blip r:embed="rId3">
            <a:alphaModFix/>
          </a:blip>
          <a:srcRect b="0" l="0" r="0" t="0"/>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2025-07-08T05:06:56Z</dcterms:created>
  <dc:creator>Manda Anirudh</dc:creator>
</cp:coreProperties>
</file>